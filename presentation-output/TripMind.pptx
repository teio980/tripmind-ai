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2763b0150f4c50" /><Relationship Type="http://schemas.openxmlformats.org/officeDocument/2006/relationships/extended-properties" Target="/docProps/app.xml" Id="Rcb6340ca592a4ae0" /><Relationship Type="http://schemas.openxmlformats.org/officeDocument/2006/relationships/officeDocument" Target="/ppt/presentation.xml" Id="R936bb7da2ada46ee" /></Relationships>
</file>

<file path=ppt/presentation.xml><?xml version="1.0" encoding="utf-8"?>
<p:presentation xmlns:p="http://schemas.openxmlformats.org/presentationml/2006/main">
  <p:sldMasterIdLst>
    <p:sldMasterId xmlns:r="http://schemas.openxmlformats.org/officeDocument/2006/relationships" id="2147483648" r:id="R434f61f8e70b4584"/>
  </p:sldMasterIdLst>
  <p:notesMasterIdLst>
    <p:notesMasterId xmlns:r="http://schemas.openxmlformats.org/officeDocument/2006/relationships" r:id="Ra51f8b9322194ad2"/>
  </p:notesMasterIdLst>
  <p:sldIdLst>
    <p:sldId xmlns:r="http://schemas.openxmlformats.org/officeDocument/2006/relationships" id="256" r:id="R6a7e9e24954f4db4"/>
    <p:sldId xmlns:r="http://schemas.openxmlformats.org/officeDocument/2006/relationships" id="257" r:id="R0f164044c093423f"/>
    <p:sldId xmlns:r="http://schemas.openxmlformats.org/officeDocument/2006/relationships" id="258" r:id="Rd3a37320f95e44ff"/>
    <p:sldId xmlns:r="http://schemas.openxmlformats.org/officeDocument/2006/relationships" id="259" r:id="R43b2d82ef9bb47bb"/>
    <p:sldId xmlns:r="http://schemas.openxmlformats.org/officeDocument/2006/relationships" id="260" r:id="R9651dc90e3514f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eaca087fb547d2" /><Relationship Type="http://schemas.openxmlformats.org/officeDocument/2006/relationships/slideMaster" Target="/ppt/slideMasters/slideMaster1.xml" Id="R434f61f8e70b4584" /><Relationship Type="http://schemas.openxmlformats.org/officeDocument/2006/relationships/notesMaster" Target="/ppt/notesMasters/notesMaster1.xml" Id="Ra51f8b9322194ad2" /><Relationship Type="http://schemas.openxmlformats.org/officeDocument/2006/relationships/presProps" Target="/ppt/presProps.xml" Id="R18cadf48db0244bc" /><Relationship Type="http://schemas.openxmlformats.org/officeDocument/2006/relationships/tableStyles" Target="/ppt/tableStyles.xml" Id="R5c74c92b2568483b" /><Relationship Type="http://schemas.openxmlformats.org/officeDocument/2006/relationships/slide" Target="/ppt/slides/slide1.xml" Id="R6a7e9e24954f4db4" /><Relationship Type="http://schemas.openxmlformats.org/officeDocument/2006/relationships/slide" Target="/ppt/slides/slide2.xml" Id="R0f164044c093423f" /><Relationship Type="http://schemas.openxmlformats.org/officeDocument/2006/relationships/slide" Target="/ppt/slides/slide3.xml" Id="Rd3a37320f95e44ff" /><Relationship Type="http://schemas.openxmlformats.org/officeDocument/2006/relationships/slide" Target="/ppt/slides/slide4.xml" Id="R43b2d82ef9bb47bb" /><Relationship Type="http://schemas.openxmlformats.org/officeDocument/2006/relationships/slide" Target="/ppt/slides/slide5.xml" Id="R9651dc90e3514f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29e178a2244c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f672e85344428d" /><Relationship Type="http://schemas.openxmlformats.org/officeDocument/2006/relationships/notesMaster" Target="/ppt/notesMasters/notesMaster1.xml" Id="Rf8bc56b587574b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5759b51b2744f6" /><Relationship Type="http://schemas.openxmlformats.org/officeDocument/2006/relationships/notesMaster" Target="/ppt/notesMasters/notesMaster1.xml" Id="R101fc456658141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38a7ab91dd4379" /><Relationship Type="http://schemas.openxmlformats.org/officeDocument/2006/relationships/notesMaster" Target="/ppt/notesMasters/notesMaster1.xml" Id="R58510d78e23247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905bb3d8344265" /><Relationship Type="http://schemas.openxmlformats.org/officeDocument/2006/relationships/notesMaster" Target="/ppt/notesMasters/notesMaster1.xml" Id="R281d7d2f044b48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f886753dbb42a5" /><Relationship Type="http://schemas.openxmlformats.org/officeDocument/2006/relationships/notesMaster" Target="/ppt/notesMasters/notesMaster1.xml" Id="R05dee7da0d4842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TripMind turns a rough travel idea into an itinerary that a group can understand, adjust and approve. It keeps the plan usable as preferences, constraints and conditions change.</a:t>
            </a:r>
          </a:p>
          <a:p xmlns:a="http://schemas.openxmlformats.org/drawingml/2006/main">
            <a:r>
              <a:t/>
            </a:r>
          </a:p>
          <a:p xmlns:a="http://schemas.openxmlformats.org/drawingml/2006/main">
            <a:r>
              <a:t>Source: README.md; visual asset: public/tripmind-product-flow.gif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Travel planning is split across research, group chat, budgets, maps and itinerary tools. Preferences get buried, average scores can hide dietary or mobility constraints, and distance alone does not show whether a day is too tiring.</a:t>
            </a:r>
          </a:p>
          <a:p xmlns:a="http://schemas.openxmlformats.org/drawingml/2006/main">
            <a:r>
              <a:t/>
            </a:r>
          </a:p>
          <a:p xmlns:a="http://schemas.openxmlformats.org/drawingml/2006/main">
            <a:r>
              <a:t>When rain or delays happen, travelers often rebuild the plan manually. TripMind connects these decisions in one flow.</a:t>
            </a:r>
          </a:p>
          <a:p xmlns:a="http://schemas.openxmlformats.org/drawingml/2006/main">
            <a:r>
              <a:t/>
            </a:r>
          </a:p>
          <a:p xmlns:a="http://schemas.openxmlformats.org/drawingml/2006/main">
            <a:r>
              <a:t>Source: README.md, sections “The Problem TripMind Solves” and “Who It Is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TripMind combines a conversational agent with planning rules. The agent understands natural language, organizes options and explains trade-offs. The rules check time, distance, transfers, budget, opening hours, fixed bookings and traveler constraints.</a:t>
            </a:r>
          </a:p>
          <a:p xmlns:a="http://schemas.openxmlformats.org/drawingml/2006/main">
            <a:r>
              <a:t/>
            </a:r>
          </a:p>
          <a:p xmlns:a="http://schemas.openxmlformats.org/drawingml/2006/main">
            <a:r>
              <a:t>Every major change creates a Pending draft. Experience Diff shows the impact, and approval creates the next version. The current plan stays safe.</a:t>
            </a:r>
          </a:p>
          <a:p xmlns:a="http://schemas.openxmlformats.org/drawingml/2006/main">
            <a:r>
              <a:t/>
            </a:r>
          </a:p>
          <a:p xmlns:a="http://schemas.openxmlformats.org/drawingml/2006/main">
            <a:r>
              <a:t>Source: README.md, sections “Product Overview”, “Explain before apply”, “Constraint-aware itinerary planning”, and “Agent Scope and Safety”; visual asset: public/tripmind-data-flow.gif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Chatbox-first planning lets users begin with a sentence such as “I want to travel,” or provide a destination and trip length. TripMind extracts known information and asks only for the essentials that are still missing.</a:t>
            </a:r>
          </a:p>
          <a:p xmlns:a="http://schemas.openxmlformats.org/drawingml/2006/main">
            <a:r>
              <a:t/>
            </a:r>
          </a:p>
          <a:p xmlns:a="http://schemas.openxmlformats.org/drawingml/2006/main">
            <a:r>
              <a:t>Requirement Clarifier makes the current requirements visible. It shows what the system knows, what needs confirmation and which values can use defaults. Itinerary Planner then turns the confirmed requirements into a structured plan with timing, movement, cost and buffers.</a:t>
            </a:r>
          </a:p>
          <a:p xmlns:a="http://schemas.openxmlformats.org/drawingml/2006/main">
            <a:r>
              <a:t/>
            </a:r>
          </a:p>
          <a:p xmlns:a="http://schemas.openxmlformats.org/drawingml/2006/main">
            <a:r>
              <a:t>Source: README.md, sections “Chatbox-first planning”, “How to Use TripMind”, and “Complete Capability Map”; visual asset: public/tripmind-product-flow.gif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Harmony makes group trade-offs visible. It shows the overall score, satisfaction by traveler, unresolved conflicts and the reasons behind each adjustment. A single average should not hide a constraint or leave one traveler consistently dissatisfied.</a:t>
            </a:r>
          </a:p>
          <a:p xmlns:a="http://schemas.openxmlformats.org/drawingml/2006/main">
            <a:r>
              <a:t/>
            </a:r>
          </a:p>
          <a:p xmlns:a="http://schemas.openxmlformats.org/drawingml/2006/main">
            <a:r>
              <a:t>Energy makes physical load part of the planning decision. It compares walking, activity density, transfers, rest blocks, early starts, late finishes and fatigue risk. The group can see the cost of a more comfortable plan before choosing.</a:t>
            </a:r>
          </a:p>
          <a:p xmlns:a="http://schemas.openxmlformats.org/drawingml/2006/main">
            <a:r>
              <a:t/>
            </a:r>
          </a:p>
          <a:p xmlns:a="http://schemas.openxmlformats.org/drawingml/2006/main">
            <a:r>
              <a:t>Source: README.md, sections “Group Harmony” and “Travel Energy”; visual asset: public/tripmind-harmony-energy.gif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560b38425543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e9704233b949c2" /><Relationship Type="http://schemas.openxmlformats.org/officeDocument/2006/relationships/slideLayout" Target="/ppt/slideLayouts/slideLayout1.xml" Id="Rb816c656bc474d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16c656bc474d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1dc0d20aec4f54" /><Relationship Type="http://schemas.openxmlformats.org/officeDocument/2006/relationships/image" Target="/ppt/media/image.png" Id="Ra9dfd58344cc481b" /><Relationship Type="http://schemas.openxmlformats.org/officeDocument/2006/relationships/image" Target="/ppt/media/image.svg" Id="R5426ae67e42d4d1f" /><Relationship Type="http://schemas.openxmlformats.org/officeDocument/2006/relationships/image" Target="/ppt/media/image2.png" Id="Rda093845d2664ca5" /><Relationship Type="http://schemas.openxmlformats.org/officeDocument/2006/relationships/notesSlide" Target="/ppt/notesSlides/notesSlide1.xml" Id="Rca5cfcddd4f349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38d28d085943ab" /><Relationship Type="http://schemas.openxmlformats.org/officeDocument/2006/relationships/notesSlide" Target="/ppt/notesSlides/notesSlide2.xml" Id="Rbf4b2e45fd7c49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ca4cf222ee49db" /><Relationship Type="http://schemas.openxmlformats.org/officeDocument/2006/relationships/image" Target="/ppt/media/image3.png" Id="R5be6f403568546ad" /><Relationship Type="http://schemas.openxmlformats.org/officeDocument/2006/relationships/notesSlide" Target="/ppt/notesSlides/notesSlide3.xml" Id="R3dfe178b53644e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a206a25f854fe4" /><Relationship Type="http://schemas.openxmlformats.org/officeDocument/2006/relationships/image" Target="/ppt/media/image4.png" Id="R36e9981fc4f44a9b" /><Relationship Type="http://schemas.openxmlformats.org/officeDocument/2006/relationships/notesSlide" Target="/ppt/notesSlides/notesSlide4.xml" Id="R95182a14cfd34c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6fc1e80af64c1b" /><Relationship Type="http://schemas.openxmlformats.org/officeDocument/2006/relationships/image" Target="/ppt/media/image5.png" Id="Rf5ed21d7549446cb" /><Relationship Type="http://schemas.openxmlformats.org/officeDocument/2006/relationships/notesSlide" Target="/ppt/notesSlides/notesSlide5.xml" Id="R18320be5161a42df" /></Relationships>
</file>

<file path=ppt/slides/slide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9dfd58344cc481b">
            <a:extLst>
              <a:ext uri="{96DAC541-7B7A-43D3-8B79-37D633B846F1}">
                <asvg:svgBlip xmlns:asvg="http://schemas.microsoft.com/office/drawing/2016/SVG/main" r:embed="R5426ae67e42d4d1f"/>
              </a:ext>
            </a:extLst>
          </a:blip>
          <a:stretch xmlns:a="http://schemas.openxmlformats.org/drawingml/2006/main"/>
        </p:blipFill>
        <p:spPr>
          <a:xfrm xmlns:a="http://schemas.openxmlformats.org/drawingml/2006/main">
            <a:off x="609600" y="457200"/>
            <a:ext cx="1809750" cy="419100"/>
          </a:xfrm>
          <a:prstGeom xmlns:a="http://schemas.openxmlformats.org/drawingml/2006/main" prst="roundRect">
            <a:avLst>
              <a:gd name="adj" fmla="val 50000"/>
            </a:avLst>
          </a:prstGeom>
        </p:spPr>
      </p:pic>
      <p:sp>
        <p:nvSpPr>
          <p:cNvPr id="2" name="">
            <a:extLst xmlns:a="http://schemas.openxmlformats.org/drawingml/2006/main">
              <a:ext uri="{FF2B5EF4-FFF2-40B4-BE49-F238E27FC236}">
                <a16:creationId xmlns:a16="http://schemas.microsoft.com/office/drawing/2014/main" id="{6A89D5BB-E55D-4CC9-8DEA-920B06A943F3}"/>
              </a:ext>
            </a:extLst>
          </p:cNvPr>
          <p:cNvSpPr>
            <a:spLocks xmlns:a="http://schemas.openxmlformats.org/drawingml/2006/main" noGrp="1"/>
          </p:cNvSpPr>
          <p:nvPr/>
        </p:nvSpPr>
        <p:spPr>
          <a:xfrm xmlns:a="http://schemas.openxmlformats.org/drawingml/2006/main">
            <a:off x="609600" y="1428750"/>
            <a:ext cx="3905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0E7168"/>
                </a:solidFill>
                <a:latin typeface="Arial"/>
                <a:ea typeface="Arial"/>
                <a:cs typeface="Arial"/>
              </a:defRPr>
            </a:pPr>
            <a:r>
              <a:rPr sz="975" b="1" i="0">
                <a:solidFill>
                  <a:srgbClr val="0E7168"/>
                </a:solidFill>
                <a:latin typeface="Arial"/>
                <a:ea typeface="Arial"/>
                <a:cs typeface="Arial"/>
              </a:rPr>
              <a:t>PRODUCT PRESENTATION</a:t>
            </a:r>
          </a:p>
        </p:txBody>
      </p:sp>
      <p:sp>
        <p:nvSpPr>
          <p:cNvPr id="3" name="">
            <a:extLst xmlns:a="http://schemas.openxmlformats.org/drawingml/2006/main">
              <a:ext uri="{FF2B5EF4-FFF2-40B4-BE49-F238E27FC236}">
                <a16:creationId xmlns:a16="http://schemas.microsoft.com/office/drawing/2014/main" id="{37903B57-0B05-4191-8BBD-8B2E472C0B74}"/>
              </a:ext>
            </a:extLst>
          </p:cNvPr>
          <p:cNvSpPr>
            <a:spLocks xmlns:a="http://schemas.openxmlformats.org/drawingml/2006/main" noGrp="1"/>
          </p:cNvSpPr>
          <p:nvPr/>
        </p:nvSpPr>
        <p:spPr>
          <a:xfrm xmlns:a="http://schemas.openxmlformats.org/drawingml/2006/main">
            <a:off x="609600" y="1752600"/>
            <a:ext cx="4953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3900" b="1" i="0">
                <a:solidFill>
                  <a:srgbClr val="17332F"/>
                </a:solidFill>
                <a:latin typeface="Arial"/>
                <a:ea typeface="Arial"/>
                <a:cs typeface="Arial"/>
              </a:defRPr>
            </a:pPr>
            <a:r>
              <a:rPr sz="3900" b="1" i="0">
                <a:solidFill>
                  <a:srgbClr val="17332F"/>
                </a:solidFill>
                <a:latin typeface="Arial"/>
                <a:ea typeface="Arial"/>
                <a:cs typeface="Arial"/>
              </a:rPr>
              <a:t>Travel planning</a:t>
            </a:r>
          </a:p>
          <a:p xmlns:a="http://schemas.openxmlformats.org/drawingml/2006/main">
            <a:pPr algn="l">
              <a:lnSpc>
                <a:spcPct val="95000"/>
              </a:lnSpc>
              <a:buNone/>
              <a:defRPr sz="3900" b="1" i="0">
                <a:solidFill>
                  <a:srgbClr val="17332F"/>
                </a:solidFill>
                <a:latin typeface="Arial"/>
                <a:ea typeface="Arial"/>
                <a:cs typeface="Arial"/>
              </a:defRPr>
            </a:pPr>
            <a:r>
              <a:rPr sz="3900" b="1" i="0">
                <a:solidFill>
                  <a:srgbClr val="17332F"/>
                </a:solidFill>
                <a:latin typeface="Arial"/>
                <a:ea typeface="Arial"/>
                <a:cs typeface="Arial"/>
              </a:rPr>
              <a:t>that works in</a:t>
            </a:r>
          </a:p>
          <a:p xmlns:a="http://schemas.openxmlformats.org/drawingml/2006/main">
            <a:pPr algn="l">
              <a:lnSpc>
                <a:spcPct val="95000"/>
              </a:lnSpc>
              <a:buNone/>
              <a:defRPr sz="3900" b="1" i="0">
                <a:solidFill>
                  <a:srgbClr val="17332F"/>
                </a:solidFill>
                <a:latin typeface="Arial"/>
                <a:ea typeface="Arial"/>
                <a:cs typeface="Arial"/>
              </a:defRPr>
            </a:pPr>
            <a:r>
              <a:rPr sz="3900" b="1" i="0">
                <a:solidFill>
                  <a:srgbClr val="17332F"/>
                </a:solidFill>
                <a:latin typeface="Arial"/>
                <a:ea typeface="Arial"/>
                <a:cs typeface="Arial"/>
              </a:rPr>
              <a:t>real life</a:t>
            </a:r>
          </a:p>
        </p:txBody>
      </p:sp>
      <p:sp>
        <p:nvSpPr>
          <p:cNvPr id="4" name="">
            <a:extLst xmlns:a="http://schemas.openxmlformats.org/drawingml/2006/main">
              <a:ext uri="{FF2B5EF4-FFF2-40B4-BE49-F238E27FC236}">
                <a16:creationId xmlns:a16="http://schemas.microsoft.com/office/drawing/2014/main" id="{A7DE5EF9-C5DA-41D5-9E81-171B29854245}"/>
              </a:ext>
            </a:extLst>
          </p:cNvPr>
          <p:cNvSpPr>
            <a:spLocks xmlns:a="http://schemas.openxmlformats.org/drawingml/2006/main" noGrp="1"/>
          </p:cNvSpPr>
          <p:nvPr/>
        </p:nvSpPr>
        <p:spPr>
          <a:xfrm xmlns:a="http://schemas.openxmlformats.org/drawingml/2006/main">
            <a:off x="609600" y="400050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i="0">
                <a:solidFill>
                  <a:srgbClr val="2B4A44"/>
                </a:solidFill>
                <a:latin typeface="Arial"/>
                <a:ea typeface="Arial"/>
                <a:cs typeface="Arial"/>
              </a:defRPr>
            </a:pPr>
            <a:r>
              <a:rPr sz="1500" b="0" i="0">
                <a:solidFill>
                  <a:srgbClr val="2B4A44"/>
                </a:solidFill>
                <a:latin typeface="Arial"/>
                <a:ea typeface="Arial"/>
                <a:cs typeface="Arial"/>
              </a:rPr>
              <a:t>A plan that works for everyone and keeps working when circumstances change.</a:t>
            </a:r>
          </a:p>
        </p:txBody>
      </p:sp>
      <p:sp>
        <p:nvSpPr>
          <p:cNvPr id="5" name="">
            <a:extLst xmlns:a="http://schemas.openxmlformats.org/drawingml/2006/main">
              <a:ext uri="{FF2B5EF4-FFF2-40B4-BE49-F238E27FC236}">
                <a16:creationId xmlns:a16="http://schemas.microsoft.com/office/drawing/2014/main" id="{3FA8FD21-D6CA-4AD8-BADD-F060026326FE}"/>
              </a:ext>
            </a:extLst>
          </p:cNvPr>
          <p:cNvSpPr>
            <a:spLocks xmlns:a="http://schemas.openxmlformats.org/drawingml/2006/main" noGrp="1"/>
          </p:cNvSpPr>
          <p:nvPr/>
        </p:nvSpPr>
        <p:spPr>
          <a:xfrm xmlns:a="http://schemas.openxmlformats.org/drawingml/2006/main">
            <a:off x="609600" y="50292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E7168"/>
                </a:solidFill>
                <a:latin typeface="Arial"/>
                <a:ea typeface="Arial"/>
                <a:cs typeface="Arial"/>
              </a:defRPr>
            </a:pPr>
            <a:r>
              <a:rPr sz="1275" b="1" i="0">
                <a:solidFill>
                  <a:srgbClr val="0E7168"/>
                </a:solidFill>
                <a:latin typeface="Arial"/>
                <a:ea typeface="Arial"/>
                <a:cs typeface="Arial"/>
              </a:rPr>
              <a:t>Plan the trip. Protect the experience.</a:t>
            </a:r>
          </a:p>
        </p:txBody>
      </p:sp>
      <p:sp>
        <p:nvSpPr>
          <p:cNvPr id="6" name="">
            <a:extLst xmlns:a="http://schemas.openxmlformats.org/drawingml/2006/main">
              <a:ext uri="{FF2B5EF4-FFF2-40B4-BE49-F238E27FC236}">
                <a16:creationId xmlns:a16="http://schemas.microsoft.com/office/drawing/2014/main" id="{D8333C99-B1E1-4C28-9D15-4E164FCFD014}"/>
              </a:ext>
            </a:extLst>
          </p:cNvPr>
          <p:cNvSpPr>
            <a:spLocks xmlns:a="http://schemas.openxmlformats.org/drawingml/2006/main" noGrp="1"/>
          </p:cNvSpPr>
          <p:nvPr/>
        </p:nvSpPr>
        <p:spPr>
          <a:xfrm xmlns:a="http://schemas.openxmlformats.org/drawingml/2006/main">
            <a:off x="609600" y="590550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6C7D78"/>
                </a:solidFill>
                <a:latin typeface="Arial"/>
                <a:ea typeface="Arial"/>
                <a:cs typeface="Arial"/>
              </a:defRPr>
            </a:pPr>
            <a:r>
              <a:rPr sz="975" b="0" i="0">
                <a:solidFill>
                  <a:srgbClr val="6C7D78"/>
                </a:solidFill>
                <a:latin typeface="Arial"/>
                <a:ea typeface="Arial"/>
                <a:cs typeface="Arial"/>
              </a:rPr>
              <a:t>Problem statement · Core features · Explainable workflow</a:t>
            </a:r>
          </a:p>
        </p:txBody>
      </p:sp>
      <p:sp>
        <p:nvSpPr>
          <p:cNvPr id="7" name="">
            <a:extLst xmlns:a="http://schemas.openxmlformats.org/drawingml/2006/main">
              <a:ext uri="{FF2B5EF4-FFF2-40B4-BE49-F238E27FC236}">
                <a16:creationId xmlns:a16="http://schemas.microsoft.com/office/drawing/2014/main" id="{E23F5689-5105-4AC9-A58A-1A20374D77E0}"/>
              </a:ext>
            </a:extLst>
          </p:cNvPr>
          <p:cNvSpPr>
            <a:spLocks xmlns:a="http://schemas.openxmlformats.org/drawingml/2006/main" noGrp="1"/>
          </p:cNvSpPr>
          <p:nvPr/>
        </p:nvSpPr>
        <p:spPr>
          <a:xfrm xmlns:a="http://schemas.openxmlformats.org/drawingml/2006/main">
            <a:off x="6572250" y="762000"/>
            <a:ext cx="5010150" cy="5238750"/>
          </a:xfrm>
          <a:prstGeom xmlns:a="http://schemas.openxmlformats.org/drawingml/2006/main" prst="roundRect">
            <a:avLst>
              <a:gd name="adj" fmla="val 4563"/>
            </a:avLst>
          </a:prstGeom>
          <a:solidFill xmlns:a="http://schemas.openxmlformats.org/drawingml/2006/main">
            <a:srgbClr val="FFFFFF"/>
          </a:solidFill>
          <a:ln xmlns:a="http://schemas.openxmlformats.org/drawingml/2006/main" w="9525">
            <a:solidFill>
              <a:srgbClr val="E2E9E5"/>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a093845d2664ca5"/>
          <a:stretch xmlns:a="http://schemas.openxmlformats.org/drawingml/2006/main"/>
        </p:blipFill>
        <p:spPr>
          <a:xfrm xmlns:a="http://schemas.openxmlformats.org/drawingml/2006/main">
            <a:off x="6953250" y="1598105"/>
            <a:ext cx="4248150" cy="2718816"/>
          </a:xfrm>
          <a:prstGeom xmlns:a="http://schemas.openxmlformats.org/drawingml/2006/main" prst="roundRect">
            <a:avLst>
              <a:gd name="adj" fmla="val 6575"/>
            </a:avLst>
          </a:prstGeom>
        </p:spPr>
      </p:pic>
      <p:sp>
        <p:nvSpPr>
          <p:cNvPr id="9" name="">
            <a:extLst xmlns:a="http://schemas.openxmlformats.org/drawingml/2006/main">
              <a:ext uri="{FF2B5EF4-FFF2-40B4-BE49-F238E27FC236}">
                <a16:creationId xmlns:a16="http://schemas.microsoft.com/office/drawing/2014/main" id="{9991E17B-A20F-44B5-A85D-84E3A58D5733}"/>
              </a:ext>
            </a:extLst>
          </p:cNvPr>
          <p:cNvSpPr>
            <a:spLocks xmlns:a="http://schemas.openxmlformats.org/drawingml/2006/main" noGrp="1"/>
          </p:cNvSpPr>
          <p:nvPr/>
        </p:nvSpPr>
        <p:spPr>
          <a:xfrm xmlns:a="http://schemas.openxmlformats.org/drawingml/2006/main">
            <a:off x="7029450" y="50673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16"/>
          </a:bodyPr>
          <a:lstStyle xmlns:a="http://schemas.openxmlformats.org/drawingml/2006/main"/>
          <a:p xmlns:a="http://schemas.openxmlformats.org/drawingml/2006/main">
            <a:pPr algn="ctr">
              <a:lnSpc>
                <a:spcPct val="100000"/>
              </a:lnSpc>
              <a:buNone/>
              <a:defRPr sz="1200" b="1" i="0">
                <a:solidFill>
                  <a:srgbClr val="2B4A44"/>
                </a:solidFill>
                <a:latin typeface="Arial"/>
                <a:ea typeface="Arial"/>
                <a:cs typeface="Arial"/>
              </a:defRPr>
            </a:pPr>
            <a:r>
              <a:rPr sz="1200" b="1" i="0">
                <a:solidFill>
                  <a:srgbClr val="2B4A44"/>
                </a:solidFill>
                <a:latin typeface="Arial"/>
                <a:ea typeface="Arial"/>
                <a:cs typeface="Arial"/>
              </a:rPr>
              <a:t>Rough idea to protected, explainable, approvable itinerary</a:t>
            </a:r>
          </a:p>
        </p:txBody>
      </p:sp>
      <p:sp>
        <p:nvSpPr>
          <p:cNvPr id="10" name="">
            <a:extLst xmlns:a="http://schemas.openxmlformats.org/drawingml/2006/main">
              <a:ext uri="{FF2B5EF4-FFF2-40B4-BE49-F238E27FC236}">
                <a16:creationId xmlns:a16="http://schemas.microsoft.com/office/drawing/2014/main" id="{C26BD210-BD15-41DD-AA18-9AB9CEE6DF28}"/>
              </a:ext>
            </a:extLst>
          </p:cNvPr>
          <p:cNvSpPr>
            <a:spLocks xmlns:a="http://schemas.openxmlformats.org/drawingml/2006/main" noGrp="1"/>
          </p:cNvSpPr>
          <p:nvPr/>
        </p:nvSpPr>
        <p:spPr>
          <a:xfrm xmlns:a="http://schemas.openxmlformats.org/drawingml/2006/main">
            <a:off x="6096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6C7D78"/>
                </a:solidFill>
                <a:latin typeface="Arial"/>
                <a:ea typeface="Arial"/>
                <a:cs typeface="Arial"/>
              </a:defRPr>
            </a:pPr>
            <a:r>
              <a:rPr sz="825" b="0" i="0">
                <a:solidFill>
                  <a:srgbClr val="6C7D78"/>
                </a:solidFill>
                <a:latin typeface="Arial"/>
                <a:ea typeface="Arial"/>
                <a:cs typeface="Arial"/>
              </a:rPr>
              <a:t>TripMind · Problem to decision layer to protected itinerary</a:t>
            </a:r>
          </a:p>
        </p:txBody>
      </p:sp>
      <p:sp>
        <p:nvSpPr>
          <p:cNvPr id="11" name="">
            <a:extLst xmlns:a="http://schemas.openxmlformats.org/drawingml/2006/main">
              <a:ext uri="{FF2B5EF4-FFF2-40B4-BE49-F238E27FC236}">
                <a16:creationId xmlns:a16="http://schemas.microsoft.com/office/drawing/2014/main" id="{69DD3BAD-EF3B-4F50-92FE-BF7793E277A0}"/>
              </a:ext>
            </a:extLst>
          </p:cNvPr>
          <p:cNvSpPr>
            <a:spLocks xmlns:a="http://schemas.openxmlformats.org/drawingml/2006/main" noGrp="1"/>
          </p:cNvSpPr>
          <p:nvPr/>
        </p:nvSpPr>
        <p:spPr>
          <a:xfrm xmlns:a="http://schemas.openxmlformats.org/drawingml/2006/main">
            <a:off x="10572750" y="6477000"/>
            <a:ext cx="1009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i="0">
                <a:solidFill>
                  <a:srgbClr val="0E7168"/>
                </a:solidFill>
                <a:latin typeface="Arial"/>
                <a:ea typeface="Arial"/>
                <a:cs typeface="Arial"/>
              </a:defRPr>
            </a:pPr>
            <a:r>
              <a:rPr sz="825" b="1" i="0">
                <a:solidFill>
                  <a:srgbClr val="0E7168"/>
                </a:solidFill>
                <a:latin typeface="Arial"/>
                <a:ea typeface="Arial"/>
                <a:cs typeface="Arial"/>
              </a:rPr>
              <a:t>TRIPMIND</a:t>
            </a:r>
          </a:p>
        </p:txBody>
      </p:sp>
    </p:spTree>
    <p:extLst>
      <p:ext uri="{BB962C8B-B14F-4D97-AF65-F5344CB8AC3E}">
        <p14:creationId xmlns:p14="http://schemas.microsoft.com/office/powerpoint/2010/main" val="1126496437"/>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C14A9DD-E113-49E5-94BB-B31771950601}"/>
              </a:ext>
            </a:extLst>
          </p:cNvPr>
          <p:cNvSpPr>
            <a:spLocks xmlns:a="http://schemas.openxmlformats.org/drawingml/2006/main" noGrp="1"/>
          </p:cNvSpPr>
          <p:nvPr/>
        </p:nvSpPr>
        <p:spPr>
          <a:xfrm xmlns:a="http://schemas.openxmlformats.org/drawingml/2006/main">
            <a:off x="6096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0E7168"/>
                </a:solidFill>
                <a:latin typeface="Arial"/>
                <a:ea typeface="Arial"/>
                <a:cs typeface="Arial"/>
              </a:defRPr>
            </a:pPr>
            <a:r>
              <a:rPr sz="900" b="1" i="0">
                <a:solidFill>
                  <a:srgbClr val="0E7168"/>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0BA434B5-1B0C-4CD3-8EC0-6493397F9FE3}"/>
              </a:ext>
            </a:extLst>
          </p:cNvPr>
          <p:cNvSpPr>
            <a:spLocks xmlns:a="http://schemas.openxmlformats.org/drawingml/2006/main" noGrp="1"/>
          </p:cNvSpPr>
          <p:nvPr/>
        </p:nvSpPr>
        <p:spPr>
          <a:xfrm xmlns:a="http://schemas.openxmlformats.org/drawingml/2006/main">
            <a:off x="609600" y="723900"/>
            <a:ext cx="885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850" b="1" i="0">
                <a:solidFill>
                  <a:srgbClr val="17332F"/>
                </a:solidFill>
                <a:latin typeface="Arial"/>
                <a:ea typeface="Arial"/>
                <a:cs typeface="Arial"/>
              </a:defRPr>
            </a:pPr>
            <a:r>
              <a:rPr sz="2850" b="1" i="0">
                <a:solidFill>
                  <a:srgbClr val="17332F"/>
                </a:solidFill>
                <a:latin typeface="Arial"/>
                <a:ea typeface="Arial"/>
                <a:cs typeface="Arial"/>
              </a:rPr>
              <a:t>Travel planning is scattered across tools</a:t>
            </a:r>
          </a:p>
        </p:txBody>
      </p:sp>
      <p:sp>
        <p:nvSpPr>
          <p:cNvPr id="3" name="">
            <a:extLst xmlns:a="http://schemas.openxmlformats.org/drawingml/2006/main">
              <a:ext uri="{FF2B5EF4-FFF2-40B4-BE49-F238E27FC236}">
                <a16:creationId xmlns:a16="http://schemas.microsoft.com/office/drawing/2014/main" id="{BCBFA0D8-7378-450A-AF03-A4DFE8E4E671}"/>
              </a:ext>
            </a:extLst>
          </p:cNvPr>
          <p:cNvSpPr>
            <a:spLocks xmlns:a="http://schemas.openxmlformats.org/drawingml/2006/main" noGrp="1"/>
          </p:cNvSpPr>
          <p:nvPr/>
        </p:nvSpPr>
        <p:spPr>
          <a:xfrm xmlns:a="http://schemas.openxmlformats.org/drawingml/2006/main">
            <a:off x="10496550" y="457200"/>
            <a:ext cx="1085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900" b="1" i="0">
                <a:solidFill>
                  <a:srgbClr val="6C7D78"/>
                </a:solidFill>
                <a:latin typeface="Arial"/>
                <a:ea typeface="Arial"/>
                <a:cs typeface="Arial"/>
              </a:defRPr>
            </a:pPr>
            <a:r>
              <a:rPr sz="900" b="1" i="0">
                <a:solidFill>
                  <a:srgbClr val="6C7D78"/>
                </a:solidFill>
                <a:latin typeface="Arial"/>
                <a:ea typeface="Arial"/>
                <a:cs typeface="Arial"/>
              </a:rPr>
              <a:t>02 / 05</a:t>
            </a:r>
          </a:p>
        </p:txBody>
      </p:sp>
      <p:sp>
        <p:nvSpPr>
          <p:cNvPr id="4" name="">
            <a:extLst xmlns:a="http://schemas.openxmlformats.org/drawingml/2006/main">
              <a:ext uri="{FF2B5EF4-FFF2-40B4-BE49-F238E27FC236}">
                <a16:creationId xmlns:a16="http://schemas.microsoft.com/office/drawing/2014/main" id="{C31DC532-3B4C-4836-9C4E-98D5C5F501BE}"/>
              </a:ext>
            </a:extLst>
          </p:cNvPr>
          <p:cNvSpPr>
            <a:spLocks xmlns:a="http://schemas.openxmlformats.org/drawingml/2006/main" noGrp="1"/>
          </p:cNvSpPr>
          <p:nvPr/>
        </p:nvSpPr>
        <p:spPr>
          <a:xfrm xmlns:a="http://schemas.openxmlformats.org/drawingml/2006/main">
            <a:off x="609600" y="1409700"/>
            <a:ext cx="10972800" cy="9525"/>
          </a:xfrm>
          <a:prstGeom xmlns:a="http://schemas.openxmlformats.org/drawingml/2006/main" prst="line">
            <a:avLst/>
          </a:prstGeom>
          <a:noFill xmlns:a="http://schemas.openxmlformats.org/drawingml/2006/main"/>
          <a:ln xmlns:a="http://schemas.openxmlformats.org/drawingml/2006/main" w="9525">
            <a:solidFill>
              <a:srgbClr val="E2E9E5"/>
            </a:solidFill>
          </a:ln>
        </p:spPr>
      </p:sp>
      <p:sp>
        <p:nvSpPr>
          <p:cNvPr id="5" name="">
            <a:extLst xmlns:a="http://schemas.openxmlformats.org/drawingml/2006/main">
              <a:ext uri="{FF2B5EF4-FFF2-40B4-BE49-F238E27FC236}">
                <a16:creationId xmlns:a16="http://schemas.microsoft.com/office/drawing/2014/main" id="{0D411F24-67ED-4DD1-8EBC-EE3975326A38}"/>
              </a:ext>
            </a:extLst>
          </p:cNvPr>
          <p:cNvSpPr>
            <a:spLocks xmlns:a="http://schemas.openxmlformats.org/drawingml/2006/main" noGrp="1"/>
          </p:cNvSpPr>
          <p:nvPr/>
        </p:nvSpPr>
        <p:spPr>
          <a:xfrm xmlns:a="http://schemas.openxmlformats.org/drawingml/2006/main">
            <a:off x="609600" y="165735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9452"/>
          </a:bodyPr>
          <a:lstStyle xmlns:a="http://schemas.openxmlformats.org/drawingml/2006/main"/>
          <a:p xmlns:a="http://schemas.openxmlformats.org/drawingml/2006/main">
            <a:pPr algn="l">
              <a:lnSpc>
                <a:spcPct val="110000"/>
              </a:lnSpc>
              <a:buNone/>
              <a:defRPr sz="1500" b="0" i="0">
                <a:solidFill>
                  <a:srgbClr val="2B4A44"/>
                </a:solidFill>
                <a:latin typeface="Arial"/>
                <a:ea typeface="Arial"/>
                <a:cs typeface="Arial"/>
              </a:defRPr>
            </a:pPr>
            <a:r>
              <a:rPr sz="1500" b="0" i="0">
                <a:solidFill>
                  <a:srgbClr val="2B4A44"/>
                </a:solidFill>
                <a:latin typeface="Arial"/>
                <a:ea typeface="Arial"/>
                <a:cs typeface="Arial"/>
              </a:rPr>
              <a:t>More information does not make a plan executable once people, time, budget and weather enter the picture.</a:t>
            </a:r>
          </a:p>
        </p:txBody>
      </p:sp>
      <p:sp>
        <p:nvSpPr>
          <p:cNvPr id="6" name="">
            <a:extLst xmlns:a="http://schemas.openxmlformats.org/drawingml/2006/main">
              <a:ext uri="{FF2B5EF4-FFF2-40B4-BE49-F238E27FC236}">
                <a16:creationId xmlns:a16="http://schemas.microsoft.com/office/drawing/2014/main" id="{0713E3A6-ECFD-4CE3-B542-D7523D07CF61}"/>
              </a:ext>
            </a:extLst>
          </p:cNvPr>
          <p:cNvSpPr>
            <a:spLocks xmlns:a="http://schemas.openxmlformats.org/drawingml/2006/main" noGrp="1"/>
          </p:cNvSpPr>
          <p:nvPr/>
        </p:nvSpPr>
        <p:spPr>
          <a:xfrm xmlns:a="http://schemas.openxmlformats.org/drawingml/2006/main">
            <a:off x="685800" y="24384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E7168"/>
                </a:solidFill>
                <a:latin typeface="Arial"/>
                <a:ea typeface="Arial"/>
                <a:cs typeface="Arial"/>
              </a:defRPr>
            </a:pPr>
            <a:r>
              <a:rPr sz="1350" b="1" i="0">
                <a:solidFill>
                  <a:srgbClr val="0E7168"/>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9A59A29-DC28-4C7E-B3B8-C555CDB06DF8}"/>
              </a:ext>
            </a:extLst>
          </p:cNvPr>
          <p:cNvSpPr>
            <a:spLocks xmlns:a="http://schemas.openxmlformats.org/drawingml/2006/main" noGrp="1"/>
          </p:cNvSpPr>
          <p:nvPr/>
        </p:nvSpPr>
        <p:spPr>
          <a:xfrm xmlns:a="http://schemas.openxmlformats.org/drawingml/2006/main">
            <a:off x="1143000" y="242887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332F"/>
                </a:solidFill>
                <a:latin typeface="Arial"/>
                <a:ea typeface="Arial"/>
                <a:cs typeface="Arial"/>
              </a:defRPr>
            </a:pPr>
            <a:r>
              <a:rPr sz="1350" b="1" i="0">
                <a:solidFill>
                  <a:srgbClr val="17332F"/>
                </a:solidFill>
                <a:latin typeface="Arial"/>
                <a:ea typeface="Arial"/>
                <a:cs typeface="Arial"/>
              </a:rPr>
              <a:t>Unclear starting point</a:t>
            </a:r>
          </a:p>
        </p:txBody>
      </p:sp>
      <p:sp>
        <p:nvSpPr>
          <p:cNvPr id="8" name="">
            <a:extLst xmlns:a="http://schemas.openxmlformats.org/drawingml/2006/main">
              <a:ext uri="{FF2B5EF4-FFF2-40B4-BE49-F238E27FC236}">
                <a16:creationId xmlns:a16="http://schemas.microsoft.com/office/drawing/2014/main" id="{52A77484-4921-4371-9434-3243D3E0C76F}"/>
              </a:ext>
            </a:extLst>
          </p:cNvPr>
          <p:cNvSpPr>
            <a:spLocks xmlns:a="http://schemas.openxmlformats.org/drawingml/2006/main" noGrp="1"/>
          </p:cNvSpPr>
          <p:nvPr/>
        </p:nvSpPr>
        <p:spPr>
          <a:xfrm xmlns:a="http://schemas.openxmlformats.org/drawingml/2006/main">
            <a:off x="1143000" y="27241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i="0">
                <a:solidFill>
                  <a:srgbClr val="6C7D78"/>
                </a:solidFill>
                <a:latin typeface="Arial"/>
                <a:ea typeface="Arial"/>
                <a:cs typeface="Arial"/>
              </a:defRPr>
            </a:pPr>
            <a:r>
              <a:rPr sz="1125" b="0" i="0">
                <a:solidFill>
                  <a:srgbClr val="6C7D78"/>
                </a:solidFill>
                <a:latin typeface="Arial"/>
                <a:ea typeface="Arial"/>
                <a:cs typeface="Arial"/>
              </a:rPr>
              <a:t>The user may only know “I want to travel” and still not know what to answer next.</a:t>
            </a:r>
          </a:p>
        </p:txBody>
      </p:sp>
      <p:sp>
        <p:nvSpPr>
          <p:cNvPr id="9" name="">
            <a:extLst xmlns:a="http://schemas.openxmlformats.org/drawingml/2006/main">
              <a:ext uri="{FF2B5EF4-FFF2-40B4-BE49-F238E27FC236}">
                <a16:creationId xmlns:a16="http://schemas.microsoft.com/office/drawing/2014/main" id="{1A6AD49D-AD33-4A86-B964-59D74A2B55EF}"/>
              </a:ext>
            </a:extLst>
          </p:cNvPr>
          <p:cNvSpPr>
            <a:spLocks xmlns:a="http://schemas.openxmlformats.org/drawingml/2006/main" noGrp="1"/>
          </p:cNvSpPr>
          <p:nvPr/>
        </p:nvSpPr>
        <p:spPr>
          <a:xfrm xmlns:a="http://schemas.openxmlformats.org/drawingml/2006/main">
            <a:off x="685800" y="36385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3678B8"/>
                </a:solidFill>
                <a:latin typeface="Arial"/>
                <a:ea typeface="Arial"/>
                <a:cs typeface="Arial"/>
              </a:defRPr>
            </a:pPr>
            <a:r>
              <a:rPr sz="1350" b="1" i="0">
                <a:solidFill>
                  <a:srgbClr val="3678B8"/>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917130B-DBB1-4FC6-BB7E-AF5D9D33A392}"/>
              </a:ext>
            </a:extLst>
          </p:cNvPr>
          <p:cNvSpPr>
            <a:spLocks xmlns:a="http://schemas.openxmlformats.org/drawingml/2006/main" noGrp="1"/>
          </p:cNvSpPr>
          <p:nvPr/>
        </p:nvSpPr>
        <p:spPr>
          <a:xfrm xmlns:a="http://schemas.openxmlformats.org/drawingml/2006/main">
            <a:off x="1143000" y="362902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332F"/>
                </a:solidFill>
                <a:latin typeface="Arial"/>
                <a:ea typeface="Arial"/>
                <a:cs typeface="Arial"/>
              </a:defRPr>
            </a:pPr>
            <a:r>
              <a:rPr sz="1350" b="1" i="0">
                <a:solidFill>
                  <a:srgbClr val="17332F"/>
                </a:solidFill>
                <a:latin typeface="Arial"/>
                <a:ea typeface="Arial"/>
                <a:cs typeface="Arial"/>
              </a:rPr>
              <a:t>Group conflict</a:t>
            </a:r>
          </a:p>
        </p:txBody>
      </p:sp>
      <p:sp>
        <p:nvSpPr>
          <p:cNvPr id="11" name="">
            <a:extLst xmlns:a="http://schemas.openxmlformats.org/drawingml/2006/main">
              <a:ext uri="{FF2B5EF4-FFF2-40B4-BE49-F238E27FC236}">
                <a16:creationId xmlns:a16="http://schemas.microsoft.com/office/drawing/2014/main" id="{47C6CEF0-8D84-4889-B263-DC5484F08C75}"/>
              </a:ext>
            </a:extLst>
          </p:cNvPr>
          <p:cNvSpPr>
            <a:spLocks xmlns:a="http://schemas.openxmlformats.org/drawingml/2006/main" noGrp="1"/>
          </p:cNvSpPr>
          <p:nvPr/>
        </p:nvSpPr>
        <p:spPr>
          <a:xfrm xmlns:a="http://schemas.openxmlformats.org/drawingml/2006/main">
            <a:off x="1143000" y="392430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i="0">
                <a:solidFill>
                  <a:srgbClr val="6C7D78"/>
                </a:solidFill>
                <a:latin typeface="Arial"/>
                <a:ea typeface="Arial"/>
                <a:cs typeface="Arial"/>
              </a:defRPr>
            </a:pPr>
            <a:r>
              <a:rPr sz="1125" b="0" i="0">
                <a:solidFill>
                  <a:srgbClr val="6C7D78"/>
                </a:solidFill>
                <a:latin typeface="Arial"/>
                <a:ea typeface="Arial"/>
                <a:cs typeface="Arial"/>
              </a:rPr>
              <a:t>A group average can hide a member’s dietary or mobility constraint.</a:t>
            </a:r>
          </a:p>
        </p:txBody>
      </p:sp>
      <p:sp>
        <p:nvSpPr>
          <p:cNvPr id="12" name="">
            <a:extLst xmlns:a="http://schemas.openxmlformats.org/drawingml/2006/main">
              <a:ext uri="{FF2B5EF4-FFF2-40B4-BE49-F238E27FC236}">
                <a16:creationId xmlns:a16="http://schemas.microsoft.com/office/drawing/2014/main" id="{22473732-C76D-48AC-939E-E95A834E5E51}"/>
              </a:ext>
            </a:extLst>
          </p:cNvPr>
          <p:cNvSpPr>
            <a:spLocks xmlns:a="http://schemas.openxmlformats.org/drawingml/2006/main" noGrp="1"/>
          </p:cNvSpPr>
          <p:nvPr/>
        </p:nvSpPr>
        <p:spPr>
          <a:xfrm xmlns:a="http://schemas.openxmlformats.org/drawingml/2006/main">
            <a:off x="685800" y="48387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C78324"/>
                </a:solidFill>
                <a:latin typeface="Arial"/>
                <a:ea typeface="Arial"/>
                <a:cs typeface="Arial"/>
              </a:defRPr>
            </a:pPr>
            <a:r>
              <a:rPr sz="1350" b="1" i="0">
                <a:solidFill>
                  <a:srgbClr val="C7832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E8FCE746-3FDA-4A31-9CB3-48E001EA4043}"/>
              </a:ext>
            </a:extLst>
          </p:cNvPr>
          <p:cNvSpPr>
            <a:spLocks xmlns:a="http://schemas.openxmlformats.org/drawingml/2006/main" noGrp="1"/>
          </p:cNvSpPr>
          <p:nvPr/>
        </p:nvSpPr>
        <p:spPr>
          <a:xfrm xmlns:a="http://schemas.openxmlformats.org/drawingml/2006/main">
            <a:off x="1143000" y="482917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332F"/>
                </a:solidFill>
                <a:latin typeface="Arial"/>
                <a:ea typeface="Arial"/>
                <a:cs typeface="Arial"/>
              </a:defRPr>
            </a:pPr>
            <a:r>
              <a:rPr sz="1350" b="1" i="0">
                <a:solidFill>
                  <a:srgbClr val="17332F"/>
                </a:solidFill>
                <a:latin typeface="Arial"/>
                <a:ea typeface="Arial"/>
                <a:cs typeface="Arial"/>
              </a:rPr>
              <a:t>Energy and budget stay hidden</a:t>
            </a:r>
          </a:p>
        </p:txBody>
      </p:sp>
      <p:sp>
        <p:nvSpPr>
          <p:cNvPr id="14" name="">
            <a:extLst xmlns:a="http://schemas.openxmlformats.org/drawingml/2006/main">
              <a:ext uri="{FF2B5EF4-FFF2-40B4-BE49-F238E27FC236}">
                <a16:creationId xmlns:a16="http://schemas.microsoft.com/office/drawing/2014/main" id="{71B8572B-B632-42F8-900F-F801AD101D9E}"/>
              </a:ext>
            </a:extLst>
          </p:cNvPr>
          <p:cNvSpPr>
            <a:spLocks xmlns:a="http://schemas.openxmlformats.org/drawingml/2006/main" noGrp="1"/>
          </p:cNvSpPr>
          <p:nvPr/>
        </p:nvSpPr>
        <p:spPr>
          <a:xfrm xmlns:a="http://schemas.openxmlformats.org/drawingml/2006/main">
            <a:off x="1143000" y="51244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i="0">
                <a:solidFill>
                  <a:srgbClr val="6C7D78"/>
                </a:solidFill>
                <a:latin typeface="Arial"/>
                <a:ea typeface="Arial"/>
                <a:cs typeface="Arial"/>
              </a:defRPr>
            </a:pPr>
            <a:r>
              <a:rPr sz="1125" b="0" i="0">
                <a:solidFill>
                  <a:srgbClr val="6C7D78"/>
                </a:solidFill>
                <a:latin typeface="Arial"/>
                <a:ea typeface="Arial"/>
                <a:cs typeface="Arial"/>
              </a:rPr>
              <a:t>Maps show distance, not whether a full day is comfortable or how much budget remains.</a:t>
            </a:r>
          </a:p>
        </p:txBody>
      </p:sp>
      <p:sp>
        <p:nvSpPr>
          <p:cNvPr id="15" name="">
            <a:extLst xmlns:a="http://schemas.openxmlformats.org/drawingml/2006/main">
              <a:ext uri="{FF2B5EF4-FFF2-40B4-BE49-F238E27FC236}">
                <a16:creationId xmlns:a16="http://schemas.microsoft.com/office/drawing/2014/main" id="{EF4EA526-C966-44D0-8911-896E4A766B1A}"/>
              </a:ext>
            </a:extLst>
          </p:cNvPr>
          <p:cNvSpPr>
            <a:spLocks xmlns:a="http://schemas.openxmlformats.org/drawingml/2006/main" noGrp="1"/>
          </p:cNvSpPr>
          <p:nvPr/>
        </p:nvSpPr>
        <p:spPr>
          <a:xfrm xmlns:a="http://schemas.openxmlformats.org/drawingml/2006/main">
            <a:off x="6334125" y="2286000"/>
            <a:ext cx="4953000" cy="2933700"/>
          </a:xfrm>
          <a:prstGeom xmlns:a="http://schemas.openxmlformats.org/drawingml/2006/main" prst="roundRect">
            <a:avLst>
              <a:gd name="adj" fmla="val 7792"/>
            </a:avLst>
          </a:prstGeom>
          <a:solidFill xmlns:a="http://schemas.openxmlformats.org/drawingml/2006/main">
            <a:srgbClr val="FFFFFF"/>
          </a:solidFill>
          <a:ln xmlns:a="http://schemas.openxmlformats.org/drawingml/2006/main" w="9525">
            <a:solidFill>
              <a:srgbClr val="E2E9E5"/>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21FA5D69-59D3-4064-9E4D-577D523BEE28}"/>
              </a:ext>
            </a:extLst>
          </p:cNvPr>
          <p:cNvSpPr>
            <a:spLocks xmlns:a="http://schemas.openxmlformats.org/drawingml/2006/main" noGrp="1"/>
          </p:cNvSpPr>
          <p:nvPr/>
        </p:nvSpPr>
        <p:spPr>
          <a:xfrm xmlns:a="http://schemas.openxmlformats.org/drawingml/2006/main">
            <a:off x="6705600" y="2590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425" b="1" i="0">
                <a:solidFill>
                  <a:srgbClr val="17332F"/>
                </a:solidFill>
                <a:latin typeface="Arial"/>
                <a:ea typeface="Arial"/>
                <a:cs typeface="Arial"/>
              </a:defRPr>
            </a:pPr>
            <a:r>
              <a:rPr sz="1425" b="1" i="0">
                <a:solidFill>
                  <a:srgbClr val="17332F"/>
                </a:solidFill>
                <a:latin typeface="Arial"/>
                <a:ea typeface="Arial"/>
                <a:cs typeface="Arial"/>
              </a:rPr>
              <a:t>Context gets lost between tools</a:t>
            </a:r>
          </a:p>
        </p:txBody>
      </p:sp>
      <p:sp>
        <p:nvSpPr>
          <p:cNvPr id="17" name="">
            <a:extLst xmlns:a="http://schemas.openxmlformats.org/drawingml/2006/main">
              <a:ext uri="{FF2B5EF4-FFF2-40B4-BE49-F238E27FC236}">
                <a16:creationId xmlns:a16="http://schemas.microsoft.com/office/drawing/2014/main" id="{9991B1B2-BE94-404B-859B-63701C9BED7E}"/>
              </a:ext>
            </a:extLst>
          </p:cNvPr>
          <p:cNvSpPr>
            <a:spLocks xmlns:a="http://schemas.openxmlformats.org/drawingml/2006/main" noGrp="1"/>
          </p:cNvSpPr>
          <p:nvPr/>
        </p:nvSpPr>
        <p:spPr>
          <a:xfrm xmlns:a="http://schemas.openxmlformats.org/drawingml/2006/main">
            <a:off x="6867525" y="3533775"/>
            <a:ext cx="171450" cy="171450"/>
          </a:xfrm>
          <a:prstGeom xmlns:a="http://schemas.openxmlformats.org/drawingml/2006/main" prst="ellipse">
            <a:avLst/>
          </a:prstGeom>
          <a:solidFill xmlns:a="http://schemas.openxmlformats.org/drawingml/2006/main">
            <a:srgbClr val="0E71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447A862-6685-4A83-AA89-5D5750036945}"/>
              </a:ext>
            </a:extLst>
          </p:cNvPr>
          <p:cNvSpPr>
            <a:spLocks xmlns:a="http://schemas.openxmlformats.org/drawingml/2006/main" noGrp="1"/>
          </p:cNvSpPr>
          <p:nvPr/>
        </p:nvSpPr>
        <p:spPr>
          <a:xfrm xmlns:a="http://schemas.openxmlformats.org/drawingml/2006/main">
            <a:off x="6629400" y="390525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900" b="1" i="0">
                <a:solidFill>
                  <a:srgbClr val="2B4A44"/>
                </a:solidFill>
                <a:latin typeface="Arial"/>
                <a:ea typeface="Arial"/>
                <a:cs typeface="Arial"/>
              </a:defRPr>
            </a:pPr>
            <a:r>
              <a:rPr sz="900" b="1" i="0">
                <a:solidFill>
                  <a:srgbClr val="2B4A44"/>
                </a:solidFill>
                <a:latin typeface="Arial"/>
                <a:ea typeface="Arial"/>
                <a:cs typeface="Arial"/>
              </a:rPr>
              <a:t>Destination search</a:t>
            </a:r>
          </a:p>
        </p:txBody>
      </p:sp>
      <p:sp>
        <p:nvSpPr>
          <p:cNvPr id="19" name="">
            <a:extLst xmlns:a="http://schemas.openxmlformats.org/drawingml/2006/main">
              <a:ext uri="{FF2B5EF4-FFF2-40B4-BE49-F238E27FC236}">
                <a16:creationId xmlns:a16="http://schemas.microsoft.com/office/drawing/2014/main" id="{80A19791-1CCB-4BF9-8B42-1BEC465B980C}"/>
              </a:ext>
            </a:extLst>
          </p:cNvPr>
          <p:cNvSpPr>
            <a:spLocks xmlns:a="http://schemas.openxmlformats.org/drawingml/2006/main" noGrp="1"/>
          </p:cNvSpPr>
          <p:nvPr/>
        </p:nvSpPr>
        <p:spPr>
          <a:xfrm xmlns:a="http://schemas.openxmlformats.org/drawingml/2006/main">
            <a:off x="7058025" y="3619500"/>
            <a:ext cx="552450" cy="9525"/>
          </a:xfrm>
          <a:prstGeom xmlns:a="http://schemas.openxmlformats.org/drawingml/2006/main" prst="line">
            <a:avLst/>
          </a:prstGeom>
          <a:noFill xmlns:a="http://schemas.openxmlformats.org/drawingml/2006/main"/>
          <a:ln xmlns:a="http://schemas.openxmlformats.org/drawingml/2006/main" w="19050">
            <a:solidFill>
              <a:srgbClr val="CFDCD6"/>
            </a:solidFill>
          </a:ln>
        </p:spPr>
      </p:sp>
      <p:sp>
        <p:nvSpPr>
          <p:cNvPr id="20" name="">
            <a:extLst xmlns:a="http://schemas.openxmlformats.org/drawingml/2006/main">
              <a:ext uri="{FF2B5EF4-FFF2-40B4-BE49-F238E27FC236}">
                <a16:creationId xmlns:a16="http://schemas.microsoft.com/office/drawing/2014/main" id="{D25D6B2E-ED43-44A8-82C2-95232909349B}"/>
              </a:ext>
            </a:extLst>
          </p:cNvPr>
          <p:cNvSpPr>
            <a:spLocks xmlns:a="http://schemas.openxmlformats.org/drawingml/2006/main" noGrp="1"/>
          </p:cNvSpPr>
          <p:nvPr/>
        </p:nvSpPr>
        <p:spPr>
          <a:xfrm xmlns:a="http://schemas.openxmlformats.org/drawingml/2006/main">
            <a:off x="7629525" y="3533775"/>
            <a:ext cx="171450" cy="171450"/>
          </a:xfrm>
          <a:prstGeom xmlns:a="http://schemas.openxmlformats.org/drawingml/2006/main" prst="ellipse">
            <a:avLst/>
          </a:prstGeom>
          <a:solidFill xmlns:a="http://schemas.openxmlformats.org/drawingml/2006/main">
            <a:srgbClr val="3678B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752B1EA-7E06-42BA-A386-2BF70E5E007E}"/>
              </a:ext>
            </a:extLst>
          </p:cNvPr>
          <p:cNvSpPr>
            <a:spLocks xmlns:a="http://schemas.openxmlformats.org/drawingml/2006/main" noGrp="1"/>
          </p:cNvSpPr>
          <p:nvPr/>
        </p:nvSpPr>
        <p:spPr>
          <a:xfrm xmlns:a="http://schemas.openxmlformats.org/drawingml/2006/main">
            <a:off x="7391400" y="390525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900" b="1" i="0">
                <a:solidFill>
                  <a:srgbClr val="2B4A44"/>
                </a:solidFill>
                <a:latin typeface="Arial"/>
                <a:ea typeface="Arial"/>
                <a:cs typeface="Arial"/>
              </a:defRPr>
            </a:pPr>
            <a:r>
              <a:rPr sz="900" b="1" i="0">
                <a:solidFill>
                  <a:srgbClr val="2B4A44"/>
                </a:solidFill>
                <a:latin typeface="Arial"/>
                <a:ea typeface="Arial"/>
                <a:cs typeface="Arial"/>
              </a:rPr>
              <a:t>Group chat</a:t>
            </a:r>
          </a:p>
        </p:txBody>
      </p:sp>
      <p:sp>
        <p:nvSpPr>
          <p:cNvPr id="22" name="">
            <a:extLst xmlns:a="http://schemas.openxmlformats.org/drawingml/2006/main">
              <a:ext uri="{FF2B5EF4-FFF2-40B4-BE49-F238E27FC236}">
                <a16:creationId xmlns:a16="http://schemas.microsoft.com/office/drawing/2014/main" id="{256AEC68-2735-4E96-9385-544AA601763E}"/>
              </a:ext>
            </a:extLst>
          </p:cNvPr>
          <p:cNvSpPr>
            <a:spLocks xmlns:a="http://schemas.openxmlformats.org/drawingml/2006/main" noGrp="1"/>
          </p:cNvSpPr>
          <p:nvPr/>
        </p:nvSpPr>
        <p:spPr>
          <a:xfrm xmlns:a="http://schemas.openxmlformats.org/drawingml/2006/main">
            <a:off x="7820025" y="3619500"/>
            <a:ext cx="552450" cy="9525"/>
          </a:xfrm>
          <a:prstGeom xmlns:a="http://schemas.openxmlformats.org/drawingml/2006/main" prst="line">
            <a:avLst/>
          </a:prstGeom>
          <a:noFill xmlns:a="http://schemas.openxmlformats.org/drawingml/2006/main"/>
          <a:ln xmlns:a="http://schemas.openxmlformats.org/drawingml/2006/main" w="19050">
            <a:solidFill>
              <a:srgbClr val="CFDCD6"/>
            </a:solidFill>
          </a:ln>
        </p:spPr>
      </p:sp>
      <p:sp>
        <p:nvSpPr>
          <p:cNvPr id="23" name="">
            <a:extLst xmlns:a="http://schemas.openxmlformats.org/drawingml/2006/main">
              <a:ext uri="{FF2B5EF4-FFF2-40B4-BE49-F238E27FC236}">
                <a16:creationId xmlns:a16="http://schemas.microsoft.com/office/drawing/2014/main" id="{3513EB46-994B-4E44-A470-1A498314647B}"/>
              </a:ext>
            </a:extLst>
          </p:cNvPr>
          <p:cNvSpPr>
            <a:spLocks xmlns:a="http://schemas.openxmlformats.org/drawingml/2006/main" noGrp="1"/>
          </p:cNvSpPr>
          <p:nvPr/>
        </p:nvSpPr>
        <p:spPr>
          <a:xfrm xmlns:a="http://schemas.openxmlformats.org/drawingml/2006/main">
            <a:off x="8391525" y="3533775"/>
            <a:ext cx="171450" cy="171450"/>
          </a:xfrm>
          <a:prstGeom xmlns:a="http://schemas.openxmlformats.org/drawingml/2006/main" prst="ellipse">
            <a:avLst/>
          </a:prstGeom>
          <a:solidFill xmlns:a="http://schemas.openxmlformats.org/drawingml/2006/main">
            <a:srgbClr val="C7832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B9C7E28-B463-4E19-BBB5-32B16D6F3D66}"/>
              </a:ext>
            </a:extLst>
          </p:cNvPr>
          <p:cNvSpPr>
            <a:spLocks xmlns:a="http://schemas.openxmlformats.org/drawingml/2006/main" noGrp="1"/>
          </p:cNvSpPr>
          <p:nvPr/>
        </p:nvSpPr>
        <p:spPr>
          <a:xfrm xmlns:a="http://schemas.openxmlformats.org/drawingml/2006/main">
            <a:off x="8153400" y="390525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900" b="1" i="0">
                <a:solidFill>
                  <a:srgbClr val="2B4A44"/>
                </a:solidFill>
                <a:latin typeface="Arial"/>
                <a:ea typeface="Arial"/>
                <a:cs typeface="Arial"/>
              </a:defRPr>
            </a:pPr>
            <a:r>
              <a:rPr sz="900" b="1" i="0">
                <a:solidFill>
                  <a:srgbClr val="2B4A44"/>
                </a:solidFill>
                <a:latin typeface="Arial"/>
                <a:ea typeface="Arial"/>
                <a:cs typeface="Arial"/>
              </a:rPr>
              <a:t>Budget sheet</a:t>
            </a:r>
          </a:p>
        </p:txBody>
      </p:sp>
      <p:sp>
        <p:nvSpPr>
          <p:cNvPr id="25" name="">
            <a:extLst xmlns:a="http://schemas.openxmlformats.org/drawingml/2006/main">
              <a:ext uri="{FF2B5EF4-FFF2-40B4-BE49-F238E27FC236}">
                <a16:creationId xmlns:a16="http://schemas.microsoft.com/office/drawing/2014/main" id="{E4230D39-CE1E-464B-A963-3EA02295CCE7}"/>
              </a:ext>
            </a:extLst>
          </p:cNvPr>
          <p:cNvSpPr>
            <a:spLocks xmlns:a="http://schemas.openxmlformats.org/drawingml/2006/main" noGrp="1"/>
          </p:cNvSpPr>
          <p:nvPr/>
        </p:nvSpPr>
        <p:spPr>
          <a:xfrm xmlns:a="http://schemas.openxmlformats.org/drawingml/2006/main">
            <a:off x="8582025" y="3619500"/>
            <a:ext cx="552450" cy="9525"/>
          </a:xfrm>
          <a:prstGeom xmlns:a="http://schemas.openxmlformats.org/drawingml/2006/main" prst="line">
            <a:avLst/>
          </a:prstGeom>
          <a:noFill xmlns:a="http://schemas.openxmlformats.org/drawingml/2006/main"/>
          <a:ln xmlns:a="http://schemas.openxmlformats.org/drawingml/2006/main" w="19050">
            <a:solidFill>
              <a:srgbClr val="CFDCD6"/>
            </a:solidFill>
          </a:ln>
        </p:spPr>
      </p:sp>
      <p:sp>
        <p:nvSpPr>
          <p:cNvPr id="26" name="">
            <a:extLst xmlns:a="http://schemas.openxmlformats.org/drawingml/2006/main">
              <a:ext uri="{FF2B5EF4-FFF2-40B4-BE49-F238E27FC236}">
                <a16:creationId xmlns:a16="http://schemas.microsoft.com/office/drawing/2014/main" id="{3C485D5C-3CBD-483E-A766-97F686D0B716}"/>
              </a:ext>
            </a:extLst>
          </p:cNvPr>
          <p:cNvSpPr>
            <a:spLocks xmlns:a="http://schemas.openxmlformats.org/drawingml/2006/main" noGrp="1"/>
          </p:cNvSpPr>
          <p:nvPr/>
        </p:nvSpPr>
        <p:spPr>
          <a:xfrm xmlns:a="http://schemas.openxmlformats.org/drawingml/2006/main">
            <a:off x="9153525" y="3533775"/>
            <a:ext cx="171450" cy="171450"/>
          </a:xfrm>
          <a:prstGeom xmlns:a="http://schemas.openxmlformats.org/drawingml/2006/main" prst="ellipse">
            <a:avLst/>
          </a:prstGeom>
          <a:solidFill xmlns:a="http://schemas.openxmlformats.org/drawingml/2006/main">
            <a:srgbClr val="5B5B7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6774BD8-C00E-49BD-AE79-F7BB6DFD32DE}"/>
              </a:ext>
            </a:extLst>
          </p:cNvPr>
          <p:cNvSpPr>
            <a:spLocks xmlns:a="http://schemas.openxmlformats.org/drawingml/2006/main" noGrp="1"/>
          </p:cNvSpPr>
          <p:nvPr/>
        </p:nvSpPr>
        <p:spPr>
          <a:xfrm xmlns:a="http://schemas.openxmlformats.org/drawingml/2006/main">
            <a:off x="8915400" y="390525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900" b="1" i="0">
                <a:solidFill>
                  <a:srgbClr val="2B4A44"/>
                </a:solidFill>
                <a:latin typeface="Arial"/>
                <a:ea typeface="Arial"/>
                <a:cs typeface="Arial"/>
              </a:defRPr>
            </a:pPr>
            <a:r>
              <a:rPr sz="900" b="1" i="0">
                <a:solidFill>
                  <a:srgbClr val="2B4A44"/>
                </a:solidFill>
                <a:latin typeface="Arial"/>
                <a:ea typeface="Arial"/>
                <a:cs typeface="Arial"/>
              </a:rPr>
              <a:t>Itinerary edits</a:t>
            </a:r>
          </a:p>
        </p:txBody>
      </p:sp>
      <p:sp>
        <p:nvSpPr>
          <p:cNvPr id="28" name="">
            <a:extLst xmlns:a="http://schemas.openxmlformats.org/drawingml/2006/main">
              <a:ext uri="{FF2B5EF4-FFF2-40B4-BE49-F238E27FC236}">
                <a16:creationId xmlns:a16="http://schemas.microsoft.com/office/drawing/2014/main" id="{7EF520BB-E44C-44AA-98C9-66F04F129FCD}"/>
              </a:ext>
            </a:extLst>
          </p:cNvPr>
          <p:cNvSpPr>
            <a:spLocks xmlns:a="http://schemas.openxmlformats.org/drawingml/2006/main" noGrp="1"/>
          </p:cNvSpPr>
          <p:nvPr/>
        </p:nvSpPr>
        <p:spPr>
          <a:xfrm xmlns:a="http://schemas.openxmlformats.org/drawingml/2006/main">
            <a:off x="9344025" y="3619500"/>
            <a:ext cx="552450" cy="9525"/>
          </a:xfrm>
          <a:prstGeom xmlns:a="http://schemas.openxmlformats.org/drawingml/2006/main" prst="line">
            <a:avLst/>
          </a:prstGeom>
          <a:noFill xmlns:a="http://schemas.openxmlformats.org/drawingml/2006/main"/>
          <a:ln xmlns:a="http://schemas.openxmlformats.org/drawingml/2006/main" w="19050">
            <a:solidFill>
              <a:srgbClr val="CFDCD6"/>
            </a:solidFill>
          </a:ln>
        </p:spPr>
      </p:sp>
      <p:sp>
        <p:nvSpPr>
          <p:cNvPr id="29" name="">
            <a:extLst xmlns:a="http://schemas.openxmlformats.org/drawingml/2006/main">
              <a:ext uri="{FF2B5EF4-FFF2-40B4-BE49-F238E27FC236}">
                <a16:creationId xmlns:a16="http://schemas.microsoft.com/office/drawing/2014/main" id="{624F7D41-2E56-4210-A4A5-A9D95BF08E3F}"/>
              </a:ext>
            </a:extLst>
          </p:cNvPr>
          <p:cNvSpPr>
            <a:spLocks xmlns:a="http://schemas.openxmlformats.org/drawingml/2006/main" noGrp="1"/>
          </p:cNvSpPr>
          <p:nvPr/>
        </p:nvSpPr>
        <p:spPr>
          <a:xfrm xmlns:a="http://schemas.openxmlformats.org/drawingml/2006/main">
            <a:off x="9896475" y="3514725"/>
            <a:ext cx="209550" cy="209550"/>
          </a:xfrm>
          <a:prstGeom xmlns:a="http://schemas.openxmlformats.org/drawingml/2006/main" prst="ellipse">
            <a:avLst/>
          </a:prstGeom>
          <a:solidFill xmlns:a="http://schemas.openxmlformats.org/drawingml/2006/main">
            <a:srgbClr val="C95E4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237C9BB-15AB-40AD-A0DF-7A847103A41C}"/>
              </a:ext>
            </a:extLst>
          </p:cNvPr>
          <p:cNvSpPr>
            <a:spLocks xmlns:a="http://schemas.openxmlformats.org/drawingml/2006/main" noGrp="1"/>
          </p:cNvSpPr>
          <p:nvPr/>
        </p:nvSpPr>
        <p:spPr>
          <a:xfrm xmlns:a="http://schemas.openxmlformats.org/drawingml/2006/main">
            <a:off x="9677400" y="3905250"/>
            <a:ext cx="647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900" b="1" i="0">
                <a:solidFill>
                  <a:srgbClr val="2B4A44"/>
                </a:solidFill>
                <a:latin typeface="Arial"/>
                <a:ea typeface="Arial"/>
                <a:cs typeface="Arial"/>
              </a:defRPr>
            </a:pPr>
            <a:r>
              <a:rPr sz="900" b="1" i="0">
                <a:solidFill>
                  <a:srgbClr val="2B4A44"/>
                </a:solidFill>
                <a:latin typeface="Arial"/>
                <a:ea typeface="Arial"/>
                <a:cs typeface="Arial"/>
              </a:rPr>
              <a:t>Rebuild from scratch</a:t>
            </a:r>
          </a:p>
        </p:txBody>
      </p:sp>
      <p:sp>
        <p:nvSpPr>
          <p:cNvPr id="31" name="">
            <a:extLst xmlns:a="http://schemas.openxmlformats.org/drawingml/2006/main">
              <a:ext uri="{FF2B5EF4-FFF2-40B4-BE49-F238E27FC236}">
                <a16:creationId xmlns:a16="http://schemas.microsoft.com/office/drawing/2014/main" id="{7AE2C91F-6F32-408C-9B42-AFBAA4006055}"/>
              </a:ext>
            </a:extLst>
          </p:cNvPr>
          <p:cNvSpPr>
            <a:spLocks xmlns:a="http://schemas.openxmlformats.org/drawingml/2006/main" noGrp="1"/>
          </p:cNvSpPr>
          <p:nvPr/>
        </p:nvSpPr>
        <p:spPr>
          <a:xfrm xmlns:a="http://schemas.openxmlformats.org/drawingml/2006/main">
            <a:off x="6705600" y="46291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1" i="0">
                <a:solidFill>
                  <a:srgbClr val="C95E4B"/>
                </a:solidFill>
                <a:latin typeface="Arial"/>
                <a:ea typeface="Arial"/>
                <a:cs typeface="Arial"/>
              </a:defRPr>
            </a:pPr>
            <a:r>
              <a:rPr sz="1200" b="1" i="0">
                <a:solidFill>
                  <a:srgbClr val="C95E4B"/>
                </a:solidFill>
                <a:latin typeface="Arial"/>
                <a:ea typeface="Arial"/>
                <a:cs typeface="Arial"/>
              </a:rPr>
              <a:t>Any change can ripple through the whole day.</a:t>
            </a:r>
          </a:p>
        </p:txBody>
      </p:sp>
      <p:sp>
        <p:nvSpPr>
          <p:cNvPr id="32" name="">
            <a:extLst xmlns:a="http://schemas.openxmlformats.org/drawingml/2006/main">
              <a:ext uri="{FF2B5EF4-FFF2-40B4-BE49-F238E27FC236}">
                <a16:creationId xmlns:a16="http://schemas.microsoft.com/office/drawing/2014/main" id="{511F7B9F-31A0-45B6-97FE-8CA71B8FBD93}"/>
              </a:ext>
            </a:extLst>
          </p:cNvPr>
          <p:cNvSpPr>
            <a:spLocks xmlns:a="http://schemas.openxmlformats.org/drawingml/2006/main" noGrp="1"/>
          </p:cNvSpPr>
          <p:nvPr/>
        </p:nvSpPr>
        <p:spPr>
          <a:xfrm xmlns:a="http://schemas.openxmlformats.org/drawingml/2006/main">
            <a:off x="6096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6C7D78"/>
                </a:solidFill>
                <a:latin typeface="Arial"/>
                <a:ea typeface="Arial"/>
                <a:cs typeface="Arial"/>
              </a:defRPr>
            </a:pPr>
            <a:r>
              <a:rPr sz="825" b="0" i="0">
                <a:solidFill>
                  <a:srgbClr val="6C7D78"/>
                </a:solidFill>
                <a:latin typeface="Arial"/>
                <a:ea typeface="Arial"/>
                <a:cs typeface="Arial"/>
              </a:rPr>
              <a:t>TripMind · The plan must survive real life</a:t>
            </a:r>
          </a:p>
        </p:txBody>
      </p:sp>
      <p:sp>
        <p:nvSpPr>
          <p:cNvPr id="33" name="">
            <a:extLst xmlns:a="http://schemas.openxmlformats.org/drawingml/2006/main">
              <a:ext uri="{FF2B5EF4-FFF2-40B4-BE49-F238E27FC236}">
                <a16:creationId xmlns:a16="http://schemas.microsoft.com/office/drawing/2014/main" id="{00F334D0-9C0C-4C5E-82DB-CD0EBB1900F8}"/>
              </a:ext>
            </a:extLst>
          </p:cNvPr>
          <p:cNvSpPr>
            <a:spLocks xmlns:a="http://schemas.openxmlformats.org/drawingml/2006/main" noGrp="1"/>
          </p:cNvSpPr>
          <p:nvPr/>
        </p:nvSpPr>
        <p:spPr>
          <a:xfrm xmlns:a="http://schemas.openxmlformats.org/drawingml/2006/main">
            <a:off x="10572750" y="6477000"/>
            <a:ext cx="1009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i="0">
                <a:solidFill>
                  <a:srgbClr val="0E7168"/>
                </a:solidFill>
                <a:latin typeface="Arial"/>
                <a:ea typeface="Arial"/>
                <a:cs typeface="Arial"/>
              </a:defRPr>
            </a:pPr>
            <a:r>
              <a:rPr sz="825" b="1" i="0">
                <a:solidFill>
                  <a:srgbClr val="0E7168"/>
                </a:solidFill>
                <a:latin typeface="Arial"/>
                <a:ea typeface="Arial"/>
                <a:cs typeface="Arial"/>
              </a:rPr>
              <a:t>TRIPMIND</a:t>
            </a:r>
          </a:p>
        </p:txBody>
      </p:sp>
    </p:spTree>
    <p:extLst>
      <p:ext uri="{BB962C8B-B14F-4D97-AF65-F5344CB8AC3E}">
        <p14:creationId xmlns:p14="http://schemas.microsoft.com/office/powerpoint/2010/main" val="821002543"/>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7068C2D-5080-4B6E-ACE1-8C295A0D9B0A}"/>
              </a:ext>
            </a:extLst>
          </p:cNvPr>
          <p:cNvSpPr>
            <a:spLocks xmlns:a="http://schemas.openxmlformats.org/drawingml/2006/main" noGrp="1"/>
          </p:cNvSpPr>
          <p:nvPr/>
        </p:nvSpPr>
        <p:spPr>
          <a:xfrm xmlns:a="http://schemas.openxmlformats.org/drawingml/2006/main">
            <a:off x="6096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0E7168"/>
                </a:solidFill>
                <a:latin typeface="Arial"/>
                <a:ea typeface="Arial"/>
                <a:cs typeface="Arial"/>
              </a:defRPr>
            </a:pPr>
            <a:r>
              <a:rPr sz="900" b="1" i="0">
                <a:solidFill>
                  <a:srgbClr val="0E7168"/>
                </a:solidFill>
                <a:latin typeface="Arial"/>
                <a:ea typeface="Arial"/>
                <a:cs typeface="Arial"/>
              </a:rPr>
              <a:t>PRODUCT THESIS</a:t>
            </a:r>
          </a:p>
        </p:txBody>
      </p:sp>
      <p:sp>
        <p:nvSpPr>
          <p:cNvPr id="2" name="">
            <a:extLst xmlns:a="http://schemas.openxmlformats.org/drawingml/2006/main">
              <a:ext uri="{FF2B5EF4-FFF2-40B4-BE49-F238E27FC236}">
                <a16:creationId xmlns:a16="http://schemas.microsoft.com/office/drawing/2014/main" id="{AF67DFF1-9A66-4258-BB20-8DD8C14EACE1}"/>
              </a:ext>
            </a:extLst>
          </p:cNvPr>
          <p:cNvSpPr>
            <a:spLocks xmlns:a="http://schemas.openxmlformats.org/drawingml/2006/main" noGrp="1"/>
          </p:cNvSpPr>
          <p:nvPr/>
        </p:nvSpPr>
        <p:spPr>
          <a:xfrm xmlns:a="http://schemas.openxmlformats.org/drawingml/2006/main">
            <a:off x="609600" y="723900"/>
            <a:ext cx="885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850" b="1" i="0">
                <a:solidFill>
                  <a:srgbClr val="17332F"/>
                </a:solidFill>
                <a:latin typeface="Arial"/>
                <a:ea typeface="Arial"/>
                <a:cs typeface="Arial"/>
              </a:defRPr>
            </a:pPr>
            <a:r>
              <a:rPr sz="2850" b="1" i="0">
                <a:solidFill>
                  <a:srgbClr val="17332F"/>
                </a:solidFill>
                <a:latin typeface="Arial"/>
                <a:ea typeface="Arial"/>
                <a:cs typeface="Arial"/>
              </a:rPr>
              <a:t>TripMind is an explainable decision layer</a:t>
            </a:r>
          </a:p>
        </p:txBody>
      </p:sp>
      <p:sp>
        <p:nvSpPr>
          <p:cNvPr id="3" name="">
            <a:extLst xmlns:a="http://schemas.openxmlformats.org/drawingml/2006/main">
              <a:ext uri="{FF2B5EF4-FFF2-40B4-BE49-F238E27FC236}">
                <a16:creationId xmlns:a16="http://schemas.microsoft.com/office/drawing/2014/main" id="{86CDBD0D-3DAF-4425-8B24-0BA440CB8D31}"/>
              </a:ext>
            </a:extLst>
          </p:cNvPr>
          <p:cNvSpPr>
            <a:spLocks xmlns:a="http://schemas.openxmlformats.org/drawingml/2006/main" noGrp="1"/>
          </p:cNvSpPr>
          <p:nvPr/>
        </p:nvSpPr>
        <p:spPr>
          <a:xfrm xmlns:a="http://schemas.openxmlformats.org/drawingml/2006/main">
            <a:off x="10496550" y="457200"/>
            <a:ext cx="1085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900" b="1" i="0">
                <a:solidFill>
                  <a:srgbClr val="6C7D78"/>
                </a:solidFill>
                <a:latin typeface="Arial"/>
                <a:ea typeface="Arial"/>
                <a:cs typeface="Arial"/>
              </a:defRPr>
            </a:pPr>
            <a:r>
              <a:rPr sz="900" b="1" i="0">
                <a:solidFill>
                  <a:srgbClr val="6C7D78"/>
                </a:solidFill>
                <a:latin typeface="Arial"/>
                <a:ea typeface="Arial"/>
                <a:cs typeface="Arial"/>
              </a:rPr>
              <a:t>03 / 05</a:t>
            </a:r>
          </a:p>
        </p:txBody>
      </p:sp>
      <p:sp>
        <p:nvSpPr>
          <p:cNvPr id="4" name="">
            <a:extLst xmlns:a="http://schemas.openxmlformats.org/drawingml/2006/main">
              <a:ext uri="{FF2B5EF4-FFF2-40B4-BE49-F238E27FC236}">
                <a16:creationId xmlns:a16="http://schemas.microsoft.com/office/drawing/2014/main" id="{8F4D0244-EC72-440C-9A80-450BDF79FDAA}"/>
              </a:ext>
            </a:extLst>
          </p:cNvPr>
          <p:cNvSpPr>
            <a:spLocks xmlns:a="http://schemas.openxmlformats.org/drawingml/2006/main" noGrp="1"/>
          </p:cNvSpPr>
          <p:nvPr/>
        </p:nvSpPr>
        <p:spPr>
          <a:xfrm xmlns:a="http://schemas.openxmlformats.org/drawingml/2006/main">
            <a:off x="609600" y="1409700"/>
            <a:ext cx="10972800" cy="9525"/>
          </a:xfrm>
          <a:prstGeom xmlns:a="http://schemas.openxmlformats.org/drawingml/2006/main" prst="line">
            <a:avLst/>
          </a:prstGeom>
          <a:noFill xmlns:a="http://schemas.openxmlformats.org/drawingml/2006/main"/>
          <a:ln xmlns:a="http://schemas.openxmlformats.org/drawingml/2006/main" w="9525">
            <a:solidFill>
              <a:srgbClr val="E2E9E5"/>
            </a:solidFill>
          </a:ln>
        </p:spPr>
      </p:sp>
      <p:sp>
        <p:nvSpPr>
          <p:cNvPr id="5" name="">
            <a:extLst xmlns:a="http://schemas.openxmlformats.org/drawingml/2006/main">
              <a:ext uri="{FF2B5EF4-FFF2-40B4-BE49-F238E27FC236}">
                <a16:creationId xmlns:a16="http://schemas.microsoft.com/office/drawing/2014/main" id="{271C531D-9C38-45C0-8F11-FBE627AB231E}"/>
              </a:ext>
            </a:extLst>
          </p:cNvPr>
          <p:cNvSpPr>
            <a:spLocks xmlns:a="http://schemas.openxmlformats.org/drawingml/2006/main" noGrp="1"/>
          </p:cNvSpPr>
          <p:nvPr/>
        </p:nvSpPr>
        <p:spPr>
          <a:xfrm xmlns:a="http://schemas.openxmlformats.org/drawingml/2006/main">
            <a:off x="609600" y="1657350"/>
            <a:ext cx="800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462"/>
          </a:bodyPr>
          <a:lstStyle xmlns:a="http://schemas.openxmlformats.org/drawingml/2006/main"/>
          <a:p xmlns:a="http://schemas.openxmlformats.org/drawingml/2006/main">
            <a:pPr algn="l">
              <a:lnSpc>
                <a:spcPct val="110000"/>
              </a:lnSpc>
              <a:buNone/>
              <a:defRPr sz="1500" b="0" i="0">
                <a:solidFill>
                  <a:srgbClr val="2B4A44"/>
                </a:solidFill>
                <a:latin typeface="Arial"/>
                <a:ea typeface="Arial"/>
                <a:cs typeface="Arial"/>
              </a:defRPr>
            </a:pPr>
            <a:r>
              <a:rPr sz="1500" b="0" i="0">
                <a:solidFill>
                  <a:srgbClr val="2B4A44"/>
                </a:solidFill>
                <a:latin typeface="Arial"/>
                <a:ea typeface="Arial"/>
                <a:cs typeface="Arial"/>
              </a:rPr>
              <a:t>AI handles intent and explanation. Deterministic logic validates. The user confirms before a change is written.</a:t>
            </a:r>
          </a:p>
        </p:txBody>
      </p:sp>
      <p:sp>
        <p:nvSpPr>
          <p:cNvPr id="6" name="">
            <a:extLst xmlns:a="http://schemas.openxmlformats.org/drawingml/2006/main">
              <a:ext uri="{FF2B5EF4-FFF2-40B4-BE49-F238E27FC236}">
                <a16:creationId xmlns:a16="http://schemas.microsoft.com/office/drawing/2014/main" id="{C2A7BED2-4265-4F5B-98E5-8C27C55F16AA}"/>
              </a:ext>
            </a:extLst>
          </p:cNvPr>
          <p:cNvSpPr>
            <a:spLocks xmlns:a="http://schemas.openxmlformats.org/drawingml/2006/main" noGrp="1"/>
          </p:cNvSpPr>
          <p:nvPr/>
        </p:nvSpPr>
        <p:spPr>
          <a:xfrm xmlns:a="http://schemas.openxmlformats.org/drawingml/2006/main">
            <a:off x="609600" y="20764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5427"/>
          </a:bodyPr>
          <a:lstStyle xmlns:a="http://schemas.openxmlformats.org/drawingml/2006/main"/>
          <a:p xmlns:a="http://schemas.openxmlformats.org/drawingml/2006/main">
            <a:pPr algn="l">
              <a:lnSpc>
                <a:spcPct val="110000"/>
              </a:lnSpc>
              <a:buNone/>
              <a:defRPr sz="1650" b="1" i="0">
                <a:solidFill>
                  <a:srgbClr val="0E7168"/>
                </a:solidFill>
                <a:latin typeface="Arial"/>
                <a:ea typeface="Arial"/>
                <a:cs typeface="Arial"/>
              </a:defRPr>
            </a:pPr>
            <a:r>
              <a:rPr sz="1650" b="1" i="0">
                <a:solidFill>
                  <a:srgbClr val="0E7168"/>
                </a:solidFill>
                <a:latin typeface="Arial"/>
                <a:ea typeface="Arial"/>
                <a:cs typeface="Arial"/>
              </a:rPr>
              <a:t>A one-off chat reply becomes a TripState that the traveler can keep editing.</a:t>
            </a:r>
          </a:p>
        </p:txBody>
      </p:sp>
      <p:sp>
        <p:nvSpPr>
          <p:cNvPr id="7" name="">
            <a:extLst xmlns:a="http://schemas.openxmlformats.org/drawingml/2006/main">
              <a:ext uri="{FF2B5EF4-FFF2-40B4-BE49-F238E27FC236}">
                <a16:creationId xmlns:a16="http://schemas.microsoft.com/office/drawing/2014/main" id="{3B50A7F1-88FF-4877-AD1C-F23F3A308ADB}"/>
              </a:ext>
            </a:extLst>
          </p:cNvPr>
          <p:cNvSpPr>
            <a:spLocks xmlns:a="http://schemas.openxmlformats.org/drawingml/2006/main" noGrp="1"/>
          </p:cNvSpPr>
          <p:nvPr/>
        </p:nvSpPr>
        <p:spPr>
          <a:xfrm xmlns:a="http://schemas.openxmlformats.org/drawingml/2006/main">
            <a:off x="609600" y="2857500"/>
            <a:ext cx="4629150" cy="3048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E2E9E5"/>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7CD8B48E-864B-4226-B110-6CD5A4CBE4AD}"/>
              </a:ext>
            </a:extLst>
          </p:cNvPr>
          <p:cNvSpPr>
            <a:spLocks xmlns:a="http://schemas.openxmlformats.org/drawingml/2006/main" noGrp="1"/>
          </p:cNvSpPr>
          <p:nvPr/>
        </p:nvSpPr>
        <p:spPr>
          <a:xfrm xmlns:a="http://schemas.openxmlformats.org/drawingml/2006/main">
            <a:off x="914400" y="31623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1" i="0">
                <a:solidFill>
                  <a:srgbClr val="17332F"/>
                </a:solidFill>
                <a:latin typeface="Arial"/>
                <a:ea typeface="Arial"/>
                <a:cs typeface="Arial"/>
              </a:defRPr>
            </a:pPr>
            <a:r>
              <a:rPr sz="1350" b="1" i="0">
                <a:solidFill>
                  <a:srgbClr val="17332F"/>
                </a:solidFill>
                <a:latin typeface="Arial"/>
                <a:ea typeface="Arial"/>
                <a:cs typeface="Arial"/>
              </a:rPr>
              <a:t>Three responsibilities</a:t>
            </a:r>
          </a:p>
        </p:txBody>
      </p:sp>
      <p:sp>
        <p:nvSpPr>
          <p:cNvPr id="9" name="">
            <a:extLst xmlns:a="http://schemas.openxmlformats.org/drawingml/2006/main">
              <a:ext uri="{FF2B5EF4-FFF2-40B4-BE49-F238E27FC236}">
                <a16:creationId xmlns:a16="http://schemas.microsoft.com/office/drawing/2014/main" id="{04DE4492-22E5-4FBD-BC1F-97D72D56A26A}"/>
              </a:ext>
            </a:extLst>
          </p:cNvPr>
          <p:cNvSpPr>
            <a:spLocks xmlns:a="http://schemas.openxmlformats.org/drawingml/2006/main" noGrp="1"/>
          </p:cNvSpPr>
          <p:nvPr/>
        </p:nvSpPr>
        <p:spPr>
          <a:xfrm xmlns:a="http://schemas.openxmlformats.org/drawingml/2006/main">
            <a:off x="914400" y="36004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E7168"/>
                </a:solidFill>
                <a:latin typeface="Arial"/>
                <a:ea typeface="Arial"/>
                <a:cs typeface="Arial"/>
              </a:defRPr>
            </a:pPr>
            <a:r>
              <a:rPr sz="1350" b="1" i="0">
                <a:solidFill>
                  <a:srgbClr val="0E7168"/>
                </a:solidFill>
                <a:latin typeface="Arial"/>
                <a:ea typeface="Arial"/>
                <a:cs typeface="Arial"/>
              </a:rPr>
              <a:t>A</a:t>
            </a:r>
          </a:p>
        </p:txBody>
      </p:sp>
      <p:sp>
        <p:nvSpPr>
          <p:cNvPr id="10" name="">
            <a:extLst xmlns:a="http://schemas.openxmlformats.org/drawingml/2006/main">
              <a:ext uri="{FF2B5EF4-FFF2-40B4-BE49-F238E27FC236}">
                <a16:creationId xmlns:a16="http://schemas.microsoft.com/office/drawing/2014/main" id="{C6286B30-3CB2-4859-A6C6-6825DC842DA9}"/>
              </a:ext>
            </a:extLst>
          </p:cNvPr>
          <p:cNvSpPr>
            <a:spLocks xmlns:a="http://schemas.openxmlformats.org/drawingml/2006/main" noGrp="1"/>
          </p:cNvSpPr>
          <p:nvPr/>
        </p:nvSpPr>
        <p:spPr>
          <a:xfrm xmlns:a="http://schemas.openxmlformats.org/drawingml/2006/main">
            <a:off x="1371600" y="359092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332F"/>
                </a:solidFill>
                <a:latin typeface="Arial"/>
                <a:ea typeface="Arial"/>
                <a:cs typeface="Arial"/>
              </a:defRPr>
            </a:pPr>
            <a:r>
              <a:rPr sz="1350" b="1" i="0">
                <a:solidFill>
                  <a:srgbClr val="17332F"/>
                </a:solidFill>
                <a:latin typeface="Arial"/>
                <a:ea typeface="Arial"/>
                <a:cs typeface="Arial"/>
              </a:rPr>
              <a:t>Understand intent</a:t>
            </a:r>
          </a:p>
        </p:txBody>
      </p:sp>
      <p:sp>
        <p:nvSpPr>
          <p:cNvPr id="11" name="">
            <a:extLst xmlns:a="http://schemas.openxmlformats.org/drawingml/2006/main">
              <a:ext uri="{FF2B5EF4-FFF2-40B4-BE49-F238E27FC236}">
                <a16:creationId xmlns:a16="http://schemas.microsoft.com/office/drawing/2014/main" id="{5FBE5367-5502-47EB-8003-448D184E0043}"/>
              </a:ext>
            </a:extLst>
          </p:cNvPr>
          <p:cNvSpPr>
            <a:spLocks xmlns:a="http://schemas.openxmlformats.org/drawingml/2006/main" noGrp="1"/>
          </p:cNvSpPr>
          <p:nvPr/>
        </p:nvSpPr>
        <p:spPr>
          <a:xfrm xmlns:a="http://schemas.openxmlformats.org/drawingml/2006/main">
            <a:off x="1371600" y="388620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i="0">
                <a:solidFill>
                  <a:srgbClr val="6C7D78"/>
                </a:solidFill>
                <a:latin typeface="Arial"/>
                <a:ea typeface="Arial"/>
                <a:cs typeface="Arial"/>
              </a:defRPr>
            </a:pPr>
            <a:r>
              <a:rPr sz="1125" b="0" i="0">
                <a:solidFill>
                  <a:srgbClr val="6C7D78"/>
                </a:solidFill>
                <a:latin typeface="Arial"/>
                <a:ea typeface="Arial"/>
                <a:cs typeface="Arial"/>
              </a:rPr>
              <a:t>The Agent extracts known details and asks only what blocks generation.</a:t>
            </a:r>
          </a:p>
        </p:txBody>
      </p:sp>
      <p:sp>
        <p:nvSpPr>
          <p:cNvPr id="12" name="">
            <a:extLst xmlns:a="http://schemas.openxmlformats.org/drawingml/2006/main">
              <a:ext uri="{FF2B5EF4-FFF2-40B4-BE49-F238E27FC236}">
                <a16:creationId xmlns:a16="http://schemas.microsoft.com/office/drawing/2014/main" id="{C6841C8A-D6D5-4F0B-A3A7-03F752015D29}"/>
              </a:ext>
            </a:extLst>
          </p:cNvPr>
          <p:cNvSpPr>
            <a:spLocks xmlns:a="http://schemas.openxmlformats.org/drawingml/2006/main" noGrp="1"/>
          </p:cNvSpPr>
          <p:nvPr/>
        </p:nvSpPr>
        <p:spPr>
          <a:xfrm xmlns:a="http://schemas.openxmlformats.org/drawingml/2006/main">
            <a:off x="914400" y="42481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3678B8"/>
                </a:solidFill>
                <a:latin typeface="Arial"/>
                <a:ea typeface="Arial"/>
                <a:cs typeface="Arial"/>
              </a:defRPr>
            </a:pPr>
            <a:r>
              <a:rPr sz="1350" b="1" i="0">
                <a:solidFill>
                  <a:srgbClr val="3678B8"/>
                </a:solidFill>
                <a:latin typeface="Arial"/>
                <a:ea typeface="Arial"/>
                <a:cs typeface="Arial"/>
              </a:rPr>
              <a:t>B</a:t>
            </a:r>
          </a:p>
        </p:txBody>
      </p:sp>
      <p:sp>
        <p:nvSpPr>
          <p:cNvPr id="13" name="">
            <a:extLst xmlns:a="http://schemas.openxmlformats.org/drawingml/2006/main">
              <a:ext uri="{FF2B5EF4-FFF2-40B4-BE49-F238E27FC236}">
                <a16:creationId xmlns:a16="http://schemas.microsoft.com/office/drawing/2014/main" id="{3FDE834C-AE6B-4471-A601-A3EF4BAB4683}"/>
              </a:ext>
            </a:extLst>
          </p:cNvPr>
          <p:cNvSpPr>
            <a:spLocks xmlns:a="http://schemas.openxmlformats.org/drawingml/2006/main" noGrp="1"/>
          </p:cNvSpPr>
          <p:nvPr/>
        </p:nvSpPr>
        <p:spPr>
          <a:xfrm xmlns:a="http://schemas.openxmlformats.org/drawingml/2006/main">
            <a:off x="1371600" y="423862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332F"/>
                </a:solidFill>
                <a:latin typeface="Arial"/>
                <a:ea typeface="Arial"/>
                <a:cs typeface="Arial"/>
              </a:defRPr>
            </a:pPr>
            <a:r>
              <a:rPr sz="1350" b="1" i="0">
                <a:solidFill>
                  <a:srgbClr val="17332F"/>
                </a:solidFill>
                <a:latin typeface="Arial"/>
                <a:ea typeface="Arial"/>
                <a:cs typeface="Arial"/>
              </a:rPr>
              <a:t>Validate constraints</a:t>
            </a:r>
          </a:p>
        </p:txBody>
      </p:sp>
      <p:sp>
        <p:nvSpPr>
          <p:cNvPr id="14" name="">
            <a:extLst xmlns:a="http://schemas.openxmlformats.org/drawingml/2006/main">
              <a:ext uri="{FF2B5EF4-FFF2-40B4-BE49-F238E27FC236}">
                <a16:creationId xmlns:a16="http://schemas.microsoft.com/office/drawing/2014/main" id="{4AC945CC-4A09-4120-9026-6781A7A9EFDC}"/>
              </a:ext>
            </a:extLst>
          </p:cNvPr>
          <p:cNvSpPr>
            <a:spLocks xmlns:a="http://schemas.openxmlformats.org/drawingml/2006/main" noGrp="1"/>
          </p:cNvSpPr>
          <p:nvPr/>
        </p:nvSpPr>
        <p:spPr>
          <a:xfrm xmlns:a="http://schemas.openxmlformats.org/drawingml/2006/main">
            <a:off x="1371600" y="453390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i="0">
                <a:solidFill>
                  <a:srgbClr val="6C7D78"/>
                </a:solidFill>
                <a:latin typeface="Arial"/>
                <a:ea typeface="Arial"/>
                <a:cs typeface="Arial"/>
              </a:defRPr>
            </a:pPr>
            <a:r>
              <a:rPr sz="1125" b="0" i="0">
                <a:solidFill>
                  <a:srgbClr val="6C7D78"/>
                </a:solidFill>
                <a:latin typeface="Arial"/>
                <a:ea typeface="Arial"/>
                <a:cs typeface="Arial"/>
              </a:rPr>
              <a:t>The system checks time, distance, buffers, budget, opening hours and member limits.</a:t>
            </a:r>
          </a:p>
        </p:txBody>
      </p:sp>
      <p:sp>
        <p:nvSpPr>
          <p:cNvPr id="15" name="">
            <a:extLst xmlns:a="http://schemas.openxmlformats.org/drawingml/2006/main">
              <a:ext uri="{FF2B5EF4-FFF2-40B4-BE49-F238E27FC236}">
                <a16:creationId xmlns:a16="http://schemas.microsoft.com/office/drawing/2014/main" id="{D0149D1D-5F70-4BBF-9860-9BA550865514}"/>
              </a:ext>
            </a:extLst>
          </p:cNvPr>
          <p:cNvSpPr>
            <a:spLocks xmlns:a="http://schemas.openxmlformats.org/drawingml/2006/main" noGrp="1"/>
          </p:cNvSpPr>
          <p:nvPr/>
        </p:nvSpPr>
        <p:spPr>
          <a:xfrm xmlns:a="http://schemas.openxmlformats.org/drawingml/2006/main">
            <a:off x="914400" y="48958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C78324"/>
                </a:solidFill>
                <a:latin typeface="Arial"/>
                <a:ea typeface="Arial"/>
                <a:cs typeface="Arial"/>
              </a:defRPr>
            </a:pPr>
            <a:r>
              <a:rPr sz="1350" b="1" i="0">
                <a:solidFill>
                  <a:srgbClr val="C78324"/>
                </a:solidFill>
                <a:latin typeface="Arial"/>
                <a:ea typeface="Arial"/>
                <a:cs typeface="Arial"/>
              </a:rPr>
              <a:t>C</a:t>
            </a:r>
          </a:p>
        </p:txBody>
      </p:sp>
      <p:sp>
        <p:nvSpPr>
          <p:cNvPr id="16" name="">
            <a:extLst xmlns:a="http://schemas.openxmlformats.org/drawingml/2006/main">
              <a:ext uri="{FF2B5EF4-FFF2-40B4-BE49-F238E27FC236}">
                <a16:creationId xmlns:a16="http://schemas.microsoft.com/office/drawing/2014/main" id="{B13827BA-76D9-4F93-AD3E-D5104D14D348}"/>
              </a:ext>
            </a:extLst>
          </p:cNvPr>
          <p:cNvSpPr>
            <a:spLocks xmlns:a="http://schemas.openxmlformats.org/drawingml/2006/main" noGrp="1"/>
          </p:cNvSpPr>
          <p:nvPr/>
        </p:nvSpPr>
        <p:spPr>
          <a:xfrm xmlns:a="http://schemas.openxmlformats.org/drawingml/2006/main">
            <a:off x="1371600" y="488632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332F"/>
                </a:solidFill>
                <a:latin typeface="Arial"/>
                <a:ea typeface="Arial"/>
                <a:cs typeface="Arial"/>
              </a:defRPr>
            </a:pPr>
            <a:r>
              <a:rPr sz="1350" b="1" i="0">
                <a:solidFill>
                  <a:srgbClr val="17332F"/>
                </a:solidFill>
                <a:latin typeface="Arial"/>
                <a:ea typeface="Arial"/>
                <a:cs typeface="Arial"/>
              </a:rPr>
              <a:t>Write with approval</a:t>
            </a:r>
          </a:p>
        </p:txBody>
      </p:sp>
      <p:sp>
        <p:nvSpPr>
          <p:cNvPr id="17" name="">
            <a:extLst xmlns:a="http://schemas.openxmlformats.org/drawingml/2006/main">
              <a:ext uri="{FF2B5EF4-FFF2-40B4-BE49-F238E27FC236}">
                <a16:creationId xmlns:a16="http://schemas.microsoft.com/office/drawing/2014/main" id="{521B28DD-307D-4BD3-9F83-083A8FC11E41}"/>
              </a:ext>
            </a:extLst>
          </p:cNvPr>
          <p:cNvSpPr>
            <a:spLocks xmlns:a="http://schemas.openxmlformats.org/drawingml/2006/main" noGrp="1"/>
          </p:cNvSpPr>
          <p:nvPr/>
        </p:nvSpPr>
        <p:spPr>
          <a:xfrm xmlns:a="http://schemas.openxmlformats.org/drawingml/2006/main">
            <a:off x="1371600" y="518160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i="0">
                <a:solidFill>
                  <a:srgbClr val="6C7D78"/>
                </a:solidFill>
                <a:latin typeface="Arial"/>
                <a:ea typeface="Arial"/>
                <a:cs typeface="Arial"/>
              </a:defRPr>
            </a:pPr>
            <a:r>
              <a:rPr sz="1125" b="0" i="0">
                <a:solidFill>
                  <a:srgbClr val="6C7D78"/>
                </a:solidFill>
                <a:latin typeface="Arial"/>
                <a:ea typeface="Arial"/>
                <a:cs typeface="Arial"/>
              </a:rPr>
              <a:t>A Pending draft shows the Experience Diff before approval creates the next version.</a:t>
            </a:r>
          </a:p>
        </p:txBody>
      </p:sp>
      <p:sp>
        <p:nvSpPr>
          <p:cNvPr id="18" name="">
            <a:extLst xmlns:a="http://schemas.openxmlformats.org/drawingml/2006/main">
              <a:ext uri="{FF2B5EF4-FFF2-40B4-BE49-F238E27FC236}">
                <a16:creationId xmlns:a16="http://schemas.microsoft.com/office/drawing/2014/main" id="{34C1DB07-A433-422A-AF3C-CA8D9D263A3D}"/>
              </a:ext>
            </a:extLst>
          </p:cNvPr>
          <p:cNvSpPr>
            <a:spLocks xmlns:a="http://schemas.openxmlformats.org/drawingml/2006/main" noGrp="1"/>
          </p:cNvSpPr>
          <p:nvPr/>
        </p:nvSpPr>
        <p:spPr>
          <a:xfrm xmlns:a="http://schemas.openxmlformats.org/drawingml/2006/main">
            <a:off x="5924550" y="2190750"/>
            <a:ext cx="5657850" cy="37147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E2E9E5"/>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5be6f403568546ad"/>
          <a:stretch xmlns:a="http://schemas.openxmlformats.org/drawingml/2006/main"/>
        </p:blipFill>
        <p:spPr>
          <a:xfrm xmlns:a="http://schemas.openxmlformats.org/drawingml/2006/main">
            <a:off x="6210300" y="2439543"/>
            <a:ext cx="5086350" cy="3255264"/>
          </a:xfrm>
          <a:prstGeom xmlns:a="http://schemas.openxmlformats.org/drawingml/2006/main" prst="roundRect">
            <a:avLst>
              <a:gd name="adj" fmla="val 7018"/>
            </a:avLst>
          </a:prstGeom>
        </p:spPr>
      </p:pic>
      <p:sp>
        <p:nvSpPr>
          <p:cNvPr id="20" name="">
            <a:extLst xmlns:a="http://schemas.openxmlformats.org/drawingml/2006/main">
              <a:ext uri="{FF2B5EF4-FFF2-40B4-BE49-F238E27FC236}">
                <a16:creationId xmlns:a16="http://schemas.microsoft.com/office/drawing/2014/main" id="{FBB417F1-D6E2-456B-8CF1-752BFDED9857}"/>
              </a:ext>
            </a:extLst>
          </p:cNvPr>
          <p:cNvSpPr>
            <a:spLocks xmlns:a="http://schemas.openxmlformats.org/drawingml/2006/main" noGrp="1"/>
          </p:cNvSpPr>
          <p:nvPr/>
        </p:nvSpPr>
        <p:spPr>
          <a:xfrm xmlns:a="http://schemas.openxmlformats.org/drawingml/2006/main">
            <a:off x="6096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6C7D78"/>
                </a:solidFill>
                <a:latin typeface="Arial"/>
                <a:ea typeface="Arial"/>
                <a:cs typeface="Arial"/>
              </a:defRPr>
            </a:pPr>
            <a:r>
              <a:rPr sz="825" b="0" i="0">
                <a:solidFill>
                  <a:srgbClr val="6C7D78"/>
                </a:solidFill>
                <a:latin typeface="Arial"/>
                <a:ea typeface="Arial"/>
                <a:cs typeface="Arial"/>
              </a:rPr>
              <a:t>TripMind · Stateful workflow, not a one-time answer</a:t>
            </a:r>
          </a:p>
        </p:txBody>
      </p:sp>
      <p:sp>
        <p:nvSpPr>
          <p:cNvPr id="21" name="">
            <a:extLst xmlns:a="http://schemas.openxmlformats.org/drawingml/2006/main">
              <a:ext uri="{FF2B5EF4-FFF2-40B4-BE49-F238E27FC236}">
                <a16:creationId xmlns:a16="http://schemas.microsoft.com/office/drawing/2014/main" id="{0525B853-A9CD-496D-BB06-648EEB717179}"/>
              </a:ext>
            </a:extLst>
          </p:cNvPr>
          <p:cNvSpPr>
            <a:spLocks xmlns:a="http://schemas.openxmlformats.org/drawingml/2006/main" noGrp="1"/>
          </p:cNvSpPr>
          <p:nvPr/>
        </p:nvSpPr>
        <p:spPr>
          <a:xfrm xmlns:a="http://schemas.openxmlformats.org/drawingml/2006/main">
            <a:off x="10572750" y="6477000"/>
            <a:ext cx="1009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i="0">
                <a:solidFill>
                  <a:srgbClr val="0E7168"/>
                </a:solidFill>
                <a:latin typeface="Arial"/>
                <a:ea typeface="Arial"/>
                <a:cs typeface="Arial"/>
              </a:defRPr>
            </a:pPr>
            <a:r>
              <a:rPr sz="825" b="1" i="0">
                <a:solidFill>
                  <a:srgbClr val="0E7168"/>
                </a:solidFill>
                <a:latin typeface="Arial"/>
                <a:ea typeface="Arial"/>
                <a:cs typeface="Arial"/>
              </a:rPr>
              <a:t>TRIPMIND</a:t>
            </a:r>
          </a:p>
        </p:txBody>
      </p:sp>
    </p:spTree>
    <p:extLst>
      <p:ext uri="{BB962C8B-B14F-4D97-AF65-F5344CB8AC3E}">
        <p14:creationId xmlns:p14="http://schemas.microsoft.com/office/powerpoint/2010/main" val="1170858859"/>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74BF9B-AC14-4E06-BE47-A5BB7B407923}"/>
              </a:ext>
            </a:extLst>
          </p:cNvPr>
          <p:cNvSpPr>
            <a:spLocks xmlns:a="http://schemas.openxmlformats.org/drawingml/2006/main" noGrp="1"/>
          </p:cNvSpPr>
          <p:nvPr/>
        </p:nvSpPr>
        <p:spPr>
          <a:xfrm xmlns:a="http://schemas.openxmlformats.org/drawingml/2006/main">
            <a:off x="6096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0E7168"/>
                </a:solidFill>
                <a:latin typeface="Arial"/>
                <a:ea typeface="Arial"/>
                <a:cs typeface="Arial"/>
              </a:defRPr>
            </a:pPr>
            <a:r>
              <a:rPr sz="900" b="1" i="0">
                <a:solidFill>
                  <a:srgbClr val="0E7168"/>
                </a:solidFill>
                <a:latin typeface="Arial"/>
                <a:ea typeface="Arial"/>
                <a:cs typeface="Arial"/>
              </a:rPr>
              <a:t>CORE FEATURE 01</a:t>
            </a:r>
          </a:p>
        </p:txBody>
      </p:sp>
      <p:sp>
        <p:nvSpPr>
          <p:cNvPr id="2" name="">
            <a:extLst xmlns:a="http://schemas.openxmlformats.org/drawingml/2006/main">
              <a:ext uri="{FF2B5EF4-FFF2-40B4-BE49-F238E27FC236}">
                <a16:creationId xmlns:a16="http://schemas.microsoft.com/office/drawing/2014/main" id="{05870E38-4899-4F5B-8918-7661DCCE77DC}"/>
              </a:ext>
            </a:extLst>
          </p:cNvPr>
          <p:cNvSpPr>
            <a:spLocks xmlns:a="http://schemas.openxmlformats.org/drawingml/2006/main" noGrp="1"/>
          </p:cNvSpPr>
          <p:nvPr/>
        </p:nvSpPr>
        <p:spPr>
          <a:xfrm xmlns:a="http://schemas.openxmlformats.org/drawingml/2006/main">
            <a:off x="609600" y="723900"/>
            <a:ext cx="885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850" b="1" i="0">
                <a:solidFill>
                  <a:srgbClr val="17332F"/>
                </a:solidFill>
                <a:latin typeface="Arial"/>
                <a:ea typeface="Arial"/>
                <a:cs typeface="Arial"/>
              </a:defRPr>
            </a:pPr>
            <a:r>
              <a:rPr sz="2850" b="1" i="0">
                <a:solidFill>
                  <a:srgbClr val="17332F"/>
                </a:solidFill>
                <a:latin typeface="Arial"/>
                <a:ea typeface="Arial"/>
                <a:cs typeface="Arial"/>
              </a:rPr>
              <a:t>Start with one sentence, then confirm what matters</a:t>
            </a:r>
          </a:p>
        </p:txBody>
      </p:sp>
      <p:sp>
        <p:nvSpPr>
          <p:cNvPr id="3" name="">
            <a:extLst xmlns:a="http://schemas.openxmlformats.org/drawingml/2006/main">
              <a:ext uri="{FF2B5EF4-FFF2-40B4-BE49-F238E27FC236}">
                <a16:creationId xmlns:a16="http://schemas.microsoft.com/office/drawing/2014/main" id="{7E087DBB-27C7-4BA1-9FE5-5EB42EA75D12}"/>
              </a:ext>
            </a:extLst>
          </p:cNvPr>
          <p:cNvSpPr>
            <a:spLocks xmlns:a="http://schemas.openxmlformats.org/drawingml/2006/main" noGrp="1"/>
          </p:cNvSpPr>
          <p:nvPr/>
        </p:nvSpPr>
        <p:spPr>
          <a:xfrm xmlns:a="http://schemas.openxmlformats.org/drawingml/2006/main">
            <a:off x="10496550" y="457200"/>
            <a:ext cx="1085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900" b="1" i="0">
                <a:solidFill>
                  <a:srgbClr val="6C7D78"/>
                </a:solidFill>
                <a:latin typeface="Arial"/>
                <a:ea typeface="Arial"/>
                <a:cs typeface="Arial"/>
              </a:defRPr>
            </a:pPr>
            <a:r>
              <a:rPr sz="900" b="1" i="0">
                <a:solidFill>
                  <a:srgbClr val="6C7D78"/>
                </a:solidFill>
                <a:latin typeface="Arial"/>
                <a:ea typeface="Arial"/>
                <a:cs typeface="Arial"/>
              </a:rPr>
              <a:t>04 / 05</a:t>
            </a:r>
          </a:p>
        </p:txBody>
      </p:sp>
      <p:sp>
        <p:nvSpPr>
          <p:cNvPr id="4" name="">
            <a:extLst xmlns:a="http://schemas.openxmlformats.org/drawingml/2006/main">
              <a:ext uri="{FF2B5EF4-FFF2-40B4-BE49-F238E27FC236}">
                <a16:creationId xmlns:a16="http://schemas.microsoft.com/office/drawing/2014/main" id="{C5C1A3B6-565E-4A28-A8CF-F7D7DE28C90D}"/>
              </a:ext>
            </a:extLst>
          </p:cNvPr>
          <p:cNvSpPr>
            <a:spLocks xmlns:a="http://schemas.openxmlformats.org/drawingml/2006/main" noGrp="1"/>
          </p:cNvSpPr>
          <p:nvPr/>
        </p:nvSpPr>
        <p:spPr>
          <a:xfrm xmlns:a="http://schemas.openxmlformats.org/drawingml/2006/main">
            <a:off x="609600" y="1409700"/>
            <a:ext cx="10972800" cy="9525"/>
          </a:xfrm>
          <a:prstGeom xmlns:a="http://schemas.openxmlformats.org/drawingml/2006/main" prst="line">
            <a:avLst/>
          </a:prstGeom>
          <a:noFill xmlns:a="http://schemas.openxmlformats.org/drawingml/2006/main"/>
          <a:ln xmlns:a="http://schemas.openxmlformats.org/drawingml/2006/main" w="9525">
            <a:solidFill>
              <a:srgbClr val="E2E9E5"/>
            </a:solidFill>
          </a:ln>
        </p:spPr>
      </p:sp>
      <p:sp>
        <p:nvSpPr>
          <p:cNvPr id="5" name="">
            <a:extLst xmlns:a="http://schemas.openxmlformats.org/drawingml/2006/main">
              <a:ext uri="{FF2B5EF4-FFF2-40B4-BE49-F238E27FC236}">
                <a16:creationId xmlns:a16="http://schemas.microsoft.com/office/drawing/2014/main" id="{E6242D76-6214-44CE-904F-493437297206}"/>
              </a:ext>
            </a:extLst>
          </p:cNvPr>
          <p:cNvSpPr>
            <a:spLocks xmlns:a="http://schemas.openxmlformats.org/drawingml/2006/main" noGrp="1"/>
          </p:cNvSpPr>
          <p:nvPr/>
        </p:nvSpPr>
        <p:spPr>
          <a:xfrm xmlns:a="http://schemas.openxmlformats.org/drawingml/2006/main">
            <a:off x="609600" y="165735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187"/>
          </a:bodyPr>
          <a:lstStyle xmlns:a="http://schemas.openxmlformats.org/drawingml/2006/main"/>
          <a:p xmlns:a="http://schemas.openxmlformats.org/drawingml/2006/main">
            <a:pPr algn="l">
              <a:lnSpc>
                <a:spcPct val="110000"/>
              </a:lnSpc>
              <a:buNone/>
              <a:defRPr sz="1500" b="0" i="0">
                <a:solidFill>
                  <a:srgbClr val="2B4A44"/>
                </a:solidFill>
                <a:latin typeface="Arial"/>
                <a:ea typeface="Arial"/>
                <a:cs typeface="Arial"/>
              </a:defRPr>
            </a:pPr>
            <a:r>
              <a:rPr sz="1500" b="0" i="0">
                <a:solidFill>
                  <a:srgbClr val="2B4A44"/>
                </a:solidFill>
                <a:latin typeface="Arial"/>
                <a:ea typeface="Arial"/>
                <a:cs typeface="Arial"/>
              </a:rPr>
              <a:t>The Chatbox is the entry point. Requirement Clarifier and Itinerary Planner turn an idea into an executable itinerary.</a:t>
            </a:r>
          </a:p>
        </p:txBody>
      </p:sp>
      <p:sp>
        <p:nvSpPr>
          <p:cNvPr id="6" name="">
            <a:extLst xmlns:a="http://schemas.openxmlformats.org/drawingml/2006/main">
              <a:ext uri="{FF2B5EF4-FFF2-40B4-BE49-F238E27FC236}">
                <a16:creationId xmlns:a16="http://schemas.microsoft.com/office/drawing/2014/main" id="{FBE5858F-F6E5-420A-BA07-5A0DEC9D5096}"/>
              </a:ext>
            </a:extLst>
          </p:cNvPr>
          <p:cNvSpPr>
            <a:spLocks xmlns:a="http://schemas.openxmlformats.org/drawingml/2006/main" noGrp="1"/>
          </p:cNvSpPr>
          <p:nvPr/>
        </p:nvSpPr>
        <p:spPr>
          <a:xfrm xmlns:a="http://schemas.openxmlformats.org/drawingml/2006/main">
            <a:off x="609600" y="2362200"/>
            <a:ext cx="4953000" cy="3390900"/>
          </a:xfrm>
          <a:prstGeom xmlns:a="http://schemas.openxmlformats.org/drawingml/2006/main" prst="roundRect">
            <a:avLst>
              <a:gd name="adj" fmla="val 6742"/>
            </a:avLst>
          </a:prstGeom>
          <a:solidFill xmlns:a="http://schemas.openxmlformats.org/drawingml/2006/main">
            <a:srgbClr val="FFFFFF"/>
          </a:solidFill>
          <a:ln xmlns:a="http://schemas.openxmlformats.org/drawingml/2006/main" w="9525">
            <a:solidFill>
              <a:srgbClr val="E2E9E5"/>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6e9981fc4f44a9b"/>
          <a:stretch xmlns:a="http://schemas.openxmlformats.org/drawingml/2006/main"/>
        </p:blipFill>
        <p:spPr>
          <a:xfrm xmlns:a="http://schemas.openxmlformats.org/drawingml/2006/main">
            <a:off x="857250" y="2612136"/>
            <a:ext cx="4457700" cy="2852928"/>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8396B343-2B7A-4AFF-882B-C32D9DA5ED7F}"/>
              </a:ext>
            </a:extLst>
          </p:cNvPr>
          <p:cNvSpPr>
            <a:spLocks xmlns:a="http://schemas.openxmlformats.org/drawingml/2006/main" noGrp="1"/>
          </p:cNvSpPr>
          <p:nvPr/>
        </p:nvSpPr>
        <p:spPr>
          <a:xfrm xmlns:a="http://schemas.openxmlformats.org/drawingml/2006/main">
            <a:off x="1752600" y="5486400"/>
            <a:ext cx="268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350" b="1" i="0">
                <a:solidFill>
                  <a:srgbClr val="17332F"/>
                </a:solidFill>
                <a:latin typeface="Arial"/>
                <a:ea typeface="Arial"/>
                <a:cs typeface="Arial"/>
              </a:defRPr>
            </a:pPr>
            <a:r>
              <a:rPr sz="1350" b="1" i="0">
                <a:solidFill>
                  <a:srgbClr val="17332F"/>
                </a:solidFill>
                <a:latin typeface="Arial"/>
                <a:ea typeface="Arial"/>
                <a:cs typeface="Arial"/>
              </a:rPr>
              <a:t>Start with a thought</a:t>
            </a:r>
          </a:p>
        </p:txBody>
      </p:sp>
      <p:sp>
        <p:nvSpPr>
          <p:cNvPr id="9" name="">
            <a:extLst xmlns:a="http://schemas.openxmlformats.org/drawingml/2006/main">
              <a:ext uri="{FF2B5EF4-FFF2-40B4-BE49-F238E27FC236}">
                <a16:creationId xmlns:a16="http://schemas.microsoft.com/office/drawing/2014/main" id="{596D263E-3558-4CEF-AAA4-DA83A025DB44}"/>
              </a:ext>
            </a:extLst>
          </p:cNvPr>
          <p:cNvSpPr>
            <a:spLocks xmlns:a="http://schemas.openxmlformats.org/drawingml/2006/main" noGrp="1"/>
          </p:cNvSpPr>
          <p:nvPr/>
        </p:nvSpPr>
        <p:spPr>
          <a:xfrm xmlns:a="http://schemas.openxmlformats.org/drawingml/2006/main">
            <a:off x="6191250" y="2362200"/>
            <a:ext cx="5086350" cy="3390900"/>
          </a:xfrm>
          <a:prstGeom xmlns:a="http://schemas.openxmlformats.org/drawingml/2006/main" prst="roundRect">
            <a:avLst>
              <a:gd name="adj" fmla="val 6742"/>
            </a:avLst>
          </a:prstGeom>
          <a:solidFill xmlns:a="http://schemas.openxmlformats.org/drawingml/2006/main">
            <a:srgbClr val="FFFFFF"/>
          </a:solidFill>
          <a:ln xmlns:a="http://schemas.openxmlformats.org/drawingml/2006/main" w="9525">
            <a:solidFill>
              <a:srgbClr val="E2E9E5"/>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7BC0504-B13B-4699-AB00-62409F627860}"/>
              </a:ext>
            </a:extLst>
          </p:cNvPr>
          <p:cNvSpPr>
            <a:spLocks xmlns:a="http://schemas.openxmlformats.org/drawingml/2006/main" noGrp="1"/>
          </p:cNvSpPr>
          <p:nvPr/>
        </p:nvSpPr>
        <p:spPr>
          <a:xfrm xmlns:a="http://schemas.openxmlformats.org/drawingml/2006/main">
            <a:off x="6572250" y="26860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1" i="0">
                <a:solidFill>
                  <a:srgbClr val="17332F"/>
                </a:solidFill>
                <a:latin typeface="Arial"/>
                <a:ea typeface="Arial"/>
                <a:cs typeface="Arial"/>
              </a:defRPr>
            </a:pPr>
            <a:r>
              <a:rPr sz="1500" b="1" i="0">
                <a:solidFill>
                  <a:srgbClr val="17332F"/>
                </a:solidFill>
                <a:latin typeface="Arial"/>
                <a:ea typeface="Arial"/>
                <a:cs typeface="Arial"/>
              </a:rPr>
              <a:t>The first two questions</a:t>
            </a:r>
          </a:p>
        </p:txBody>
      </p:sp>
      <p:sp>
        <p:nvSpPr>
          <p:cNvPr id="11" name="">
            <a:extLst xmlns:a="http://schemas.openxmlformats.org/drawingml/2006/main">
              <a:ext uri="{FF2B5EF4-FFF2-40B4-BE49-F238E27FC236}">
                <a16:creationId xmlns:a16="http://schemas.microsoft.com/office/drawing/2014/main" id="{C0AFBB97-57AC-4146-A701-D697CD0B0D16}"/>
              </a:ext>
            </a:extLst>
          </p:cNvPr>
          <p:cNvSpPr>
            <a:spLocks xmlns:a="http://schemas.openxmlformats.org/drawingml/2006/main" noGrp="1"/>
          </p:cNvSpPr>
          <p:nvPr/>
        </p:nvSpPr>
        <p:spPr>
          <a:xfrm xmlns:a="http://schemas.openxmlformats.org/drawingml/2006/main">
            <a:off x="6572250" y="32956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E7168"/>
                </a:solidFill>
                <a:latin typeface="Arial"/>
                <a:ea typeface="Arial"/>
                <a:cs typeface="Arial"/>
              </a:defRPr>
            </a:pPr>
            <a:r>
              <a:rPr sz="1350" b="1" i="0">
                <a:solidFill>
                  <a:srgbClr val="0E7168"/>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4E1076DF-192F-47A2-98C5-04D15ECF9E0C}"/>
              </a:ext>
            </a:extLst>
          </p:cNvPr>
          <p:cNvSpPr>
            <a:spLocks xmlns:a="http://schemas.openxmlformats.org/drawingml/2006/main" noGrp="1"/>
          </p:cNvSpPr>
          <p:nvPr/>
        </p:nvSpPr>
        <p:spPr>
          <a:xfrm xmlns:a="http://schemas.openxmlformats.org/drawingml/2006/main">
            <a:off x="7029450" y="328612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332F"/>
                </a:solidFill>
                <a:latin typeface="Arial"/>
                <a:ea typeface="Arial"/>
                <a:cs typeface="Arial"/>
              </a:defRPr>
            </a:pPr>
            <a:r>
              <a:rPr sz="1350" b="1" i="0">
                <a:solidFill>
                  <a:srgbClr val="17332F"/>
                </a:solidFill>
                <a:latin typeface="Arial"/>
                <a:ea typeface="Arial"/>
                <a:cs typeface="Arial"/>
              </a:rPr>
              <a:t>Destination</a:t>
            </a:r>
          </a:p>
        </p:txBody>
      </p:sp>
      <p:sp>
        <p:nvSpPr>
          <p:cNvPr id="13" name="">
            <a:extLst xmlns:a="http://schemas.openxmlformats.org/drawingml/2006/main">
              <a:ext uri="{FF2B5EF4-FFF2-40B4-BE49-F238E27FC236}">
                <a16:creationId xmlns:a16="http://schemas.microsoft.com/office/drawing/2014/main" id="{1D4CE9E2-7218-46B2-9E6B-42EB2F6E6D3B}"/>
              </a:ext>
            </a:extLst>
          </p:cNvPr>
          <p:cNvSpPr>
            <a:spLocks xmlns:a="http://schemas.openxmlformats.org/drawingml/2006/main" noGrp="1"/>
          </p:cNvSpPr>
          <p:nvPr/>
        </p:nvSpPr>
        <p:spPr>
          <a:xfrm xmlns:a="http://schemas.openxmlformats.org/drawingml/2006/main">
            <a:off x="7029450" y="358140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i="0">
                <a:solidFill>
                  <a:srgbClr val="6C7D78"/>
                </a:solidFill>
                <a:latin typeface="Arial"/>
                <a:ea typeface="Arial"/>
                <a:cs typeface="Arial"/>
              </a:defRPr>
            </a:pPr>
            <a:r>
              <a:rPr sz="1125" b="0" i="0">
                <a:solidFill>
                  <a:srgbClr val="6C7D78"/>
                </a:solidFill>
                <a:latin typeface="Arial"/>
                <a:ea typeface="Arial"/>
                <a:cs typeface="Arial"/>
              </a:rPr>
              <a:t>For example: Penang</a:t>
            </a:r>
          </a:p>
        </p:txBody>
      </p:sp>
      <p:sp>
        <p:nvSpPr>
          <p:cNvPr id="14" name="">
            <a:extLst xmlns:a="http://schemas.openxmlformats.org/drawingml/2006/main">
              <a:ext uri="{FF2B5EF4-FFF2-40B4-BE49-F238E27FC236}">
                <a16:creationId xmlns:a16="http://schemas.microsoft.com/office/drawing/2014/main" id="{F11A5698-BC8A-4F52-9630-18C6FB0F0FE6}"/>
              </a:ext>
            </a:extLst>
          </p:cNvPr>
          <p:cNvSpPr>
            <a:spLocks xmlns:a="http://schemas.openxmlformats.org/drawingml/2006/main" noGrp="1"/>
          </p:cNvSpPr>
          <p:nvPr/>
        </p:nvSpPr>
        <p:spPr>
          <a:xfrm xmlns:a="http://schemas.openxmlformats.org/drawingml/2006/main">
            <a:off x="6572250" y="403860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3678B8"/>
                </a:solidFill>
                <a:latin typeface="Arial"/>
                <a:ea typeface="Arial"/>
                <a:cs typeface="Arial"/>
              </a:defRPr>
            </a:pPr>
            <a:r>
              <a:rPr sz="1350" b="1" i="0">
                <a:solidFill>
                  <a:srgbClr val="3678B8"/>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0CF4D770-2F3A-4A8E-BE5C-E7AAB80EC230}"/>
              </a:ext>
            </a:extLst>
          </p:cNvPr>
          <p:cNvSpPr>
            <a:spLocks xmlns:a="http://schemas.openxmlformats.org/drawingml/2006/main" noGrp="1"/>
          </p:cNvSpPr>
          <p:nvPr/>
        </p:nvSpPr>
        <p:spPr>
          <a:xfrm xmlns:a="http://schemas.openxmlformats.org/drawingml/2006/main">
            <a:off x="7029450" y="4029075"/>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7332F"/>
                </a:solidFill>
                <a:latin typeface="Arial"/>
                <a:ea typeface="Arial"/>
                <a:cs typeface="Arial"/>
              </a:defRPr>
            </a:pPr>
            <a:r>
              <a:rPr sz="1350" b="1" i="0">
                <a:solidFill>
                  <a:srgbClr val="17332F"/>
                </a:solidFill>
                <a:latin typeface="Arial"/>
                <a:ea typeface="Arial"/>
                <a:cs typeface="Arial"/>
              </a:rPr>
              <a:t>Date or trip length</a:t>
            </a:r>
          </a:p>
        </p:txBody>
      </p:sp>
      <p:sp>
        <p:nvSpPr>
          <p:cNvPr id="16" name="">
            <a:extLst xmlns:a="http://schemas.openxmlformats.org/drawingml/2006/main">
              <a:ext uri="{FF2B5EF4-FFF2-40B4-BE49-F238E27FC236}">
                <a16:creationId xmlns:a16="http://schemas.microsoft.com/office/drawing/2014/main" id="{73CB14DC-9D3F-4D51-A043-11C9204BF96B}"/>
              </a:ext>
            </a:extLst>
          </p:cNvPr>
          <p:cNvSpPr>
            <a:spLocks xmlns:a="http://schemas.openxmlformats.org/drawingml/2006/main" noGrp="1"/>
          </p:cNvSpPr>
          <p:nvPr/>
        </p:nvSpPr>
        <p:spPr>
          <a:xfrm xmlns:a="http://schemas.openxmlformats.org/drawingml/2006/main">
            <a:off x="7029450" y="4324350"/>
            <a:ext cx="342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125" b="0" i="0">
                <a:solidFill>
                  <a:srgbClr val="6C7D78"/>
                </a:solidFill>
                <a:latin typeface="Arial"/>
                <a:ea typeface="Arial"/>
                <a:cs typeface="Arial"/>
              </a:defRPr>
            </a:pPr>
            <a:r>
              <a:rPr sz="1125" b="0" i="0">
                <a:solidFill>
                  <a:srgbClr val="6C7D78"/>
                </a:solidFill>
                <a:latin typeface="Arial"/>
                <a:ea typeface="Arial"/>
                <a:cs typeface="Arial"/>
              </a:rPr>
              <a:t>For example: 3 days</a:t>
            </a:r>
          </a:p>
        </p:txBody>
      </p:sp>
      <p:sp>
        <p:nvSpPr>
          <p:cNvPr id="17" name="">
            <a:extLst xmlns:a="http://schemas.openxmlformats.org/drawingml/2006/main">
              <a:ext uri="{FF2B5EF4-FFF2-40B4-BE49-F238E27FC236}">
                <a16:creationId xmlns:a16="http://schemas.microsoft.com/office/drawing/2014/main" id="{6A414686-D0A8-4039-BB8D-F9AFEFDDE7C3}"/>
              </a:ext>
            </a:extLst>
          </p:cNvPr>
          <p:cNvSpPr>
            <a:spLocks xmlns:a="http://schemas.openxmlformats.org/drawingml/2006/main" noGrp="1"/>
          </p:cNvSpPr>
          <p:nvPr/>
        </p:nvSpPr>
        <p:spPr>
          <a:xfrm xmlns:a="http://schemas.openxmlformats.org/drawingml/2006/main">
            <a:off x="6572250" y="4895850"/>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0" i="0">
                <a:solidFill>
                  <a:srgbClr val="6C7D78"/>
                </a:solidFill>
                <a:latin typeface="Arial"/>
                <a:ea typeface="Arial"/>
                <a:cs typeface="Arial"/>
              </a:defRPr>
            </a:pPr>
            <a:r>
              <a:rPr sz="1200" b="0" i="0">
                <a:solidFill>
                  <a:srgbClr val="6C7D78"/>
                </a:solidFill>
                <a:latin typeface="Arial"/>
                <a:ea typeface="Arial"/>
                <a:cs typeface="Arial"/>
              </a:rPr>
              <a:t>Interests, travelers and pace can come later. The system labels defaults clearly.</a:t>
            </a:r>
          </a:p>
        </p:txBody>
      </p:sp>
      <p:sp>
        <p:nvSpPr>
          <p:cNvPr id="18" name="">
            <a:extLst xmlns:a="http://schemas.openxmlformats.org/drawingml/2006/main">
              <a:ext uri="{FF2B5EF4-FFF2-40B4-BE49-F238E27FC236}">
                <a16:creationId xmlns:a16="http://schemas.microsoft.com/office/drawing/2014/main" id="{26F666B4-5B0A-42C3-86AB-53E13E0B36A4}"/>
              </a:ext>
            </a:extLst>
          </p:cNvPr>
          <p:cNvSpPr>
            <a:spLocks xmlns:a="http://schemas.openxmlformats.org/drawingml/2006/main" noGrp="1"/>
          </p:cNvSpPr>
          <p:nvPr/>
        </p:nvSpPr>
        <p:spPr>
          <a:xfrm xmlns:a="http://schemas.openxmlformats.org/drawingml/2006/main">
            <a:off x="6572250" y="5429250"/>
            <a:ext cx="428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0E7168"/>
                </a:solidFill>
                <a:latin typeface="Arial"/>
                <a:ea typeface="Arial"/>
                <a:cs typeface="Arial"/>
              </a:defRPr>
            </a:pPr>
            <a:r>
              <a:rPr sz="1050" b="1" i="0">
                <a:solidFill>
                  <a:srgbClr val="0E7168"/>
                </a:solidFill>
                <a:latin typeface="Arial"/>
                <a:ea typeface="Arial"/>
                <a:cs typeface="Arial"/>
              </a:rPr>
              <a:t>Rough idea to requirement review to structured itinerary</a:t>
            </a:r>
          </a:p>
        </p:txBody>
      </p:sp>
      <p:sp>
        <p:nvSpPr>
          <p:cNvPr id="19" name="">
            <a:extLst xmlns:a="http://schemas.openxmlformats.org/drawingml/2006/main">
              <a:ext uri="{FF2B5EF4-FFF2-40B4-BE49-F238E27FC236}">
                <a16:creationId xmlns:a16="http://schemas.microsoft.com/office/drawing/2014/main" id="{A41E7B8F-F8B8-4A5D-910C-E2E44B03E9BE}"/>
              </a:ext>
            </a:extLst>
          </p:cNvPr>
          <p:cNvSpPr>
            <a:spLocks xmlns:a="http://schemas.openxmlformats.org/drawingml/2006/main" noGrp="1"/>
          </p:cNvSpPr>
          <p:nvPr/>
        </p:nvSpPr>
        <p:spPr>
          <a:xfrm xmlns:a="http://schemas.openxmlformats.org/drawingml/2006/main">
            <a:off x="6096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6C7D78"/>
                </a:solidFill>
                <a:latin typeface="Arial"/>
                <a:ea typeface="Arial"/>
                <a:cs typeface="Arial"/>
              </a:defRPr>
            </a:pPr>
            <a:r>
              <a:rPr sz="825" b="0" i="0">
                <a:solidFill>
                  <a:srgbClr val="6C7D78"/>
                </a:solidFill>
                <a:latin typeface="Arial"/>
                <a:ea typeface="Arial"/>
                <a:cs typeface="Arial"/>
              </a:rPr>
              <a:t>TripMind · Understand first, generate second</a:t>
            </a:r>
          </a:p>
        </p:txBody>
      </p:sp>
      <p:sp>
        <p:nvSpPr>
          <p:cNvPr id="20" name="">
            <a:extLst xmlns:a="http://schemas.openxmlformats.org/drawingml/2006/main">
              <a:ext uri="{FF2B5EF4-FFF2-40B4-BE49-F238E27FC236}">
                <a16:creationId xmlns:a16="http://schemas.microsoft.com/office/drawing/2014/main" id="{89869B8F-D5F3-488C-BE13-5844CFB483DF}"/>
              </a:ext>
            </a:extLst>
          </p:cNvPr>
          <p:cNvSpPr>
            <a:spLocks xmlns:a="http://schemas.openxmlformats.org/drawingml/2006/main" noGrp="1"/>
          </p:cNvSpPr>
          <p:nvPr/>
        </p:nvSpPr>
        <p:spPr>
          <a:xfrm xmlns:a="http://schemas.openxmlformats.org/drawingml/2006/main">
            <a:off x="10572750" y="6477000"/>
            <a:ext cx="1009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i="0">
                <a:solidFill>
                  <a:srgbClr val="0E7168"/>
                </a:solidFill>
                <a:latin typeface="Arial"/>
                <a:ea typeface="Arial"/>
                <a:cs typeface="Arial"/>
              </a:defRPr>
            </a:pPr>
            <a:r>
              <a:rPr sz="825" b="1" i="0">
                <a:solidFill>
                  <a:srgbClr val="0E7168"/>
                </a:solidFill>
                <a:latin typeface="Arial"/>
                <a:ea typeface="Arial"/>
                <a:cs typeface="Arial"/>
              </a:rPr>
              <a:t>TRIPMIND</a:t>
            </a:r>
          </a:p>
        </p:txBody>
      </p:sp>
    </p:spTree>
    <p:extLst>
      <p:ext uri="{BB962C8B-B14F-4D97-AF65-F5344CB8AC3E}">
        <p14:creationId xmlns:p14="http://schemas.microsoft.com/office/powerpoint/2010/main" val="893459584"/>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DA251FA-4380-4A36-BB80-27FFC589481C}"/>
              </a:ext>
            </a:extLst>
          </p:cNvPr>
          <p:cNvSpPr>
            <a:spLocks xmlns:a="http://schemas.openxmlformats.org/drawingml/2006/main" noGrp="1"/>
          </p:cNvSpPr>
          <p:nvPr/>
        </p:nvSpPr>
        <p:spPr>
          <a:xfrm xmlns:a="http://schemas.openxmlformats.org/drawingml/2006/main">
            <a:off x="6096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0E7168"/>
                </a:solidFill>
                <a:latin typeface="Arial"/>
                <a:ea typeface="Arial"/>
                <a:cs typeface="Arial"/>
              </a:defRPr>
            </a:pPr>
            <a:r>
              <a:rPr sz="900" b="1" i="0">
                <a:solidFill>
                  <a:srgbClr val="0E7168"/>
                </a:solidFill>
                <a:latin typeface="Arial"/>
                <a:ea typeface="Arial"/>
                <a:cs typeface="Arial"/>
              </a:rPr>
              <a:t>CORE FEATURES 02–03</a:t>
            </a:r>
          </a:p>
        </p:txBody>
      </p:sp>
      <p:sp>
        <p:nvSpPr>
          <p:cNvPr id="2" name="">
            <a:extLst xmlns:a="http://schemas.openxmlformats.org/drawingml/2006/main">
              <a:ext uri="{FF2B5EF4-FFF2-40B4-BE49-F238E27FC236}">
                <a16:creationId xmlns:a16="http://schemas.microsoft.com/office/drawing/2014/main" id="{64782BA0-CC5E-435C-8343-072E24141F14}"/>
              </a:ext>
            </a:extLst>
          </p:cNvPr>
          <p:cNvSpPr>
            <a:spLocks xmlns:a="http://schemas.openxmlformats.org/drawingml/2006/main" noGrp="1"/>
          </p:cNvSpPr>
          <p:nvPr/>
        </p:nvSpPr>
        <p:spPr>
          <a:xfrm xmlns:a="http://schemas.openxmlformats.org/drawingml/2006/main">
            <a:off x="609600" y="723900"/>
            <a:ext cx="885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850" b="1" i="0">
                <a:solidFill>
                  <a:srgbClr val="17332F"/>
                </a:solidFill>
                <a:latin typeface="Arial"/>
                <a:ea typeface="Arial"/>
                <a:cs typeface="Arial"/>
              </a:defRPr>
            </a:pPr>
            <a:r>
              <a:rPr sz="2850" b="1" i="0">
                <a:solidFill>
                  <a:srgbClr val="17332F"/>
                </a:solidFill>
                <a:latin typeface="Arial"/>
                <a:ea typeface="Arial"/>
                <a:cs typeface="Arial"/>
              </a:rPr>
              <a:t>Harmony and Energy make trade-offs visible</a:t>
            </a:r>
          </a:p>
        </p:txBody>
      </p:sp>
      <p:sp>
        <p:nvSpPr>
          <p:cNvPr id="3" name="">
            <a:extLst xmlns:a="http://schemas.openxmlformats.org/drawingml/2006/main">
              <a:ext uri="{FF2B5EF4-FFF2-40B4-BE49-F238E27FC236}">
                <a16:creationId xmlns:a16="http://schemas.microsoft.com/office/drawing/2014/main" id="{1929226B-AA3A-4E9C-97A6-09580B5E76AB}"/>
              </a:ext>
            </a:extLst>
          </p:cNvPr>
          <p:cNvSpPr>
            <a:spLocks xmlns:a="http://schemas.openxmlformats.org/drawingml/2006/main" noGrp="1"/>
          </p:cNvSpPr>
          <p:nvPr/>
        </p:nvSpPr>
        <p:spPr>
          <a:xfrm xmlns:a="http://schemas.openxmlformats.org/drawingml/2006/main">
            <a:off x="10496550" y="457200"/>
            <a:ext cx="1085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10000"/>
              </a:lnSpc>
              <a:buNone/>
              <a:defRPr sz="900" b="1" i="0">
                <a:solidFill>
                  <a:srgbClr val="6C7D78"/>
                </a:solidFill>
                <a:latin typeface="Arial"/>
                <a:ea typeface="Arial"/>
                <a:cs typeface="Arial"/>
              </a:defRPr>
            </a:pPr>
            <a:r>
              <a:rPr sz="900" b="1" i="0">
                <a:solidFill>
                  <a:srgbClr val="6C7D78"/>
                </a:solidFill>
                <a:latin typeface="Arial"/>
                <a:ea typeface="Arial"/>
                <a:cs typeface="Arial"/>
              </a:rPr>
              <a:t>05 / 05</a:t>
            </a:r>
          </a:p>
        </p:txBody>
      </p:sp>
      <p:sp>
        <p:nvSpPr>
          <p:cNvPr id="4" name="">
            <a:extLst xmlns:a="http://schemas.openxmlformats.org/drawingml/2006/main">
              <a:ext uri="{FF2B5EF4-FFF2-40B4-BE49-F238E27FC236}">
                <a16:creationId xmlns:a16="http://schemas.microsoft.com/office/drawing/2014/main" id="{C1BE943A-272A-4AE7-9C0D-BD7226DFD538}"/>
              </a:ext>
            </a:extLst>
          </p:cNvPr>
          <p:cNvSpPr>
            <a:spLocks xmlns:a="http://schemas.openxmlformats.org/drawingml/2006/main" noGrp="1"/>
          </p:cNvSpPr>
          <p:nvPr/>
        </p:nvSpPr>
        <p:spPr>
          <a:xfrm xmlns:a="http://schemas.openxmlformats.org/drawingml/2006/main">
            <a:off x="609600" y="1409700"/>
            <a:ext cx="10972800" cy="9525"/>
          </a:xfrm>
          <a:prstGeom xmlns:a="http://schemas.openxmlformats.org/drawingml/2006/main" prst="line">
            <a:avLst/>
          </a:prstGeom>
          <a:noFill xmlns:a="http://schemas.openxmlformats.org/drawingml/2006/main"/>
          <a:ln xmlns:a="http://schemas.openxmlformats.org/drawingml/2006/main" w="9525">
            <a:solidFill>
              <a:srgbClr val="E2E9E5"/>
            </a:solidFill>
          </a:ln>
        </p:spPr>
      </p:sp>
      <p:sp>
        <p:nvSpPr>
          <p:cNvPr id="5" name="">
            <a:extLst xmlns:a="http://schemas.openxmlformats.org/drawingml/2006/main">
              <a:ext uri="{FF2B5EF4-FFF2-40B4-BE49-F238E27FC236}">
                <a16:creationId xmlns:a16="http://schemas.microsoft.com/office/drawing/2014/main" id="{F3751576-20EE-47E0-AC63-19208E0D136B}"/>
              </a:ext>
            </a:extLst>
          </p:cNvPr>
          <p:cNvSpPr>
            <a:spLocks xmlns:a="http://schemas.openxmlformats.org/drawingml/2006/main" noGrp="1"/>
          </p:cNvSpPr>
          <p:nvPr/>
        </p:nvSpPr>
        <p:spPr>
          <a:xfrm xmlns:a="http://schemas.openxmlformats.org/drawingml/2006/main">
            <a:off x="609600" y="165735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00" b="0" i="0">
                <a:solidFill>
                  <a:srgbClr val="2B4A44"/>
                </a:solidFill>
                <a:latin typeface="Arial"/>
                <a:ea typeface="Arial"/>
                <a:cs typeface="Arial"/>
              </a:defRPr>
            </a:pPr>
            <a:r>
              <a:rPr sz="1500" b="0" i="0">
                <a:solidFill>
                  <a:srgbClr val="2B4A44"/>
                </a:solidFill>
                <a:latin typeface="Arial"/>
                <a:ea typeface="Arial"/>
                <a:cs typeface="Arial"/>
              </a:rPr>
              <a:t>A strong average score is not enough. The plan must work for every traveler.</a:t>
            </a:r>
          </a:p>
        </p:txBody>
      </p:sp>
      <p:sp>
        <p:nvSpPr>
          <p:cNvPr id="6" name="">
            <a:extLst xmlns:a="http://schemas.openxmlformats.org/drawingml/2006/main">
              <a:ext uri="{FF2B5EF4-FFF2-40B4-BE49-F238E27FC236}">
                <a16:creationId xmlns:a16="http://schemas.microsoft.com/office/drawing/2014/main" id="{E47762B9-F07D-4355-AC87-4058D2D541F0}"/>
              </a:ext>
            </a:extLst>
          </p:cNvPr>
          <p:cNvSpPr>
            <a:spLocks xmlns:a="http://schemas.openxmlformats.org/drawingml/2006/main" noGrp="1"/>
          </p:cNvSpPr>
          <p:nvPr/>
        </p:nvSpPr>
        <p:spPr>
          <a:xfrm xmlns:a="http://schemas.openxmlformats.org/drawingml/2006/main">
            <a:off x="609600" y="2209800"/>
            <a:ext cx="6381750" cy="38100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E2E9E5"/>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5ed21d7549446cb"/>
          <a:stretch xmlns:a="http://schemas.openxmlformats.org/drawingml/2006/main"/>
        </p:blipFill>
        <p:spPr>
          <a:xfrm xmlns:a="http://schemas.openxmlformats.org/drawingml/2006/main">
            <a:off x="1151334" y="2419350"/>
            <a:ext cx="5298281" cy="3390900"/>
          </a:xfrm>
          <a:prstGeom xmlns:a="http://schemas.openxmlformats.org/drawingml/2006/main" prst="roundRect">
            <a:avLst>
              <a:gd name="adj" fmla="val 6742"/>
            </a:avLst>
          </a:prstGeom>
        </p:spPr>
      </p:pic>
      <p:sp>
        <p:nvSpPr>
          <p:cNvPr id="8" name="">
            <a:extLst xmlns:a="http://schemas.openxmlformats.org/drawingml/2006/main">
              <a:ext uri="{FF2B5EF4-FFF2-40B4-BE49-F238E27FC236}">
                <a16:creationId xmlns:a16="http://schemas.microsoft.com/office/drawing/2014/main" id="{28960EDC-A221-4827-A70F-164286AB8D81}"/>
              </a:ext>
            </a:extLst>
          </p:cNvPr>
          <p:cNvSpPr>
            <a:spLocks xmlns:a="http://schemas.openxmlformats.org/drawingml/2006/main" noGrp="1"/>
          </p:cNvSpPr>
          <p:nvPr/>
        </p:nvSpPr>
        <p:spPr>
          <a:xfrm xmlns:a="http://schemas.openxmlformats.org/drawingml/2006/main">
            <a:off x="838200" y="5829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825" b="0" i="0">
                <a:solidFill>
                  <a:srgbClr val="6C7D78"/>
                </a:solidFill>
                <a:latin typeface="Arial"/>
                <a:ea typeface="Arial"/>
                <a:cs typeface="Arial"/>
              </a:defRPr>
            </a:pPr>
            <a:r>
              <a:rPr sz="825" b="0" i="0">
                <a:solidFill>
                  <a:srgbClr val="6C7D78"/>
                </a:solidFill>
                <a:latin typeface="Arial"/>
                <a:ea typeface="Arial"/>
                <a:cs typeface="Arial"/>
              </a:rPr>
              <a:t>Baseline planning view</a:t>
            </a:r>
          </a:p>
        </p:txBody>
      </p:sp>
      <p:sp>
        <p:nvSpPr>
          <p:cNvPr id="9" name="">
            <a:extLst xmlns:a="http://schemas.openxmlformats.org/drawingml/2006/main">
              <a:ext uri="{FF2B5EF4-FFF2-40B4-BE49-F238E27FC236}">
                <a16:creationId xmlns:a16="http://schemas.microsoft.com/office/drawing/2014/main" id="{E0B8772F-8FE7-4B2E-ACD4-AFCCCDCC08E6}"/>
              </a:ext>
            </a:extLst>
          </p:cNvPr>
          <p:cNvSpPr>
            <a:spLocks xmlns:a="http://schemas.openxmlformats.org/drawingml/2006/main" noGrp="1"/>
          </p:cNvSpPr>
          <p:nvPr/>
        </p:nvSpPr>
        <p:spPr>
          <a:xfrm xmlns:a="http://schemas.openxmlformats.org/drawingml/2006/main">
            <a:off x="7486650" y="2362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i="0">
                <a:solidFill>
                  <a:srgbClr val="3678B8"/>
                </a:solidFill>
                <a:latin typeface="Arial"/>
                <a:ea typeface="Arial"/>
                <a:cs typeface="Arial"/>
              </a:defRPr>
            </a:pPr>
            <a:r>
              <a:rPr sz="900" b="1" i="0">
                <a:solidFill>
                  <a:srgbClr val="3678B8"/>
                </a:solidFill>
                <a:latin typeface="Arial"/>
                <a:ea typeface="Arial"/>
                <a:cs typeface="Arial"/>
              </a:rPr>
              <a:t>GROUP HARMONY</a:t>
            </a:r>
          </a:p>
        </p:txBody>
      </p:sp>
      <p:sp>
        <p:nvSpPr>
          <p:cNvPr id="10" name="">
            <a:extLst xmlns:a="http://schemas.openxmlformats.org/drawingml/2006/main">
              <a:ext uri="{FF2B5EF4-FFF2-40B4-BE49-F238E27FC236}">
                <a16:creationId xmlns:a16="http://schemas.microsoft.com/office/drawing/2014/main" id="{95B625BE-6A8E-46BC-90D2-7B6ED45D99AB}"/>
              </a:ext>
            </a:extLst>
          </p:cNvPr>
          <p:cNvSpPr>
            <a:spLocks xmlns:a="http://schemas.openxmlformats.org/drawingml/2006/main" noGrp="1"/>
          </p:cNvSpPr>
          <p:nvPr/>
        </p:nvSpPr>
        <p:spPr>
          <a:xfrm xmlns:a="http://schemas.openxmlformats.org/drawingml/2006/main">
            <a:off x="7486650" y="26670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875"/>
          </a:bodyPr>
          <a:lstStyle xmlns:a="http://schemas.openxmlformats.org/drawingml/2006/main"/>
          <a:p xmlns:a="http://schemas.openxmlformats.org/drawingml/2006/main">
            <a:pPr algn="l">
              <a:lnSpc>
                <a:spcPct val="110000"/>
              </a:lnSpc>
              <a:buNone/>
              <a:defRPr sz="1950" b="1" i="0">
                <a:solidFill>
                  <a:srgbClr val="17332F"/>
                </a:solidFill>
                <a:latin typeface="Arial"/>
                <a:ea typeface="Arial"/>
                <a:cs typeface="Arial"/>
              </a:defRPr>
            </a:pPr>
            <a:r>
              <a:rPr sz="1950" b="1" i="0">
                <a:solidFill>
                  <a:srgbClr val="17332F"/>
                </a:solidFill>
                <a:latin typeface="Arial"/>
                <a:ea typeface="Arial"/>
                <a:cs typeface="Arial"/>
              </a:rPr>
              <a:t>Protect the least-satisfied traveler</a:t>
            </a:r>
          </a:p>
        </p:txBody>
      </p:sp>
      <p:sp>
        <p:nvSpPr>
          <p:cNvPr id="11" name="">
            <a:extLst xmlns:a="http://schemas.openxmlformats.org/drawingml/2006/main">
              <a:ext uri="{FF2B5EF4-FFF2-40B4-BE49-F238E27FC236}">
                <a16:creationId xmlns:a16="http://schemas.microsoft.com/office/drawing/2014/main" id="{6230AE47-ADEE-48CD-ACA0-AA1A619ED412}"/>
              </a:ext>
            </a:extLst>
          </p:cNvPr>
          <p:cNvSpPr>
            <a:spLocks xmlns:a="http://schemas.openxmlformats.org/drawingml/2006/main" noGrp="1"/>
          </p:cNvSpPr>
          <p:nvPr/>
        </p:nvSpPr>
        <p:spPr>
          <a:xfrm xmlns:a="http://schemas.openxmlformats.org/drawingml/2006/main">
            <a:off x="7486650" y="3143250"/>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200" b="0" i="0">
                <a:solidFill>
                  <a:srgbClr val="6C7D78"/>
                </a:solidFill>
                <a:latin typeface="Arial"/>
                <a:ea typeface="Arial"/>
                <a:cs typeface="Arial"/>
              </a:defRPr>
            </a:pPr>
            <a:r>
              <a:rPr sz="1200" b="0" i="0">
                <a:solidFill>
                  <a:srgbClr val="6C7D78"/>
                </a:solidFill>
                <a:latin typeface="Arial"/>
                <a:ea typeface="Arial"/>
                <a:cs typeface="Arial"/>
              </a:rPr>
              <a:t>Harmony shows the overall score, satisfaction by traveler, unresolved conflicts and the reasons for each adjustment. It protects the least-satisfied traveler.</a:t>
            </a:r>
          </a:p>
        </p:txBody>
      </p:sp>
      <p:sp>
        <p:nvSpPr>
          <p:cNvPr id="12" name="">
            <a:extLst xmlns:a="http://schemas.openxmlformats.org/drawingml/2006/main">
              <a:ext uri="{FF2B5EF4-FFF2-40B4-BE49-F238E27FC236}">
                <a16:creationId xmlns:a16="http://schemas.microsoft.com/office/drawing/2014/main" id="{ABDD0065-3D8D-4BC3-95C8-F6B1E52229E1}"/>
              </a:ext>
            </a:extLst>
          </p:cNvPr>
          <p:cNvSpPr>
            <a:spLocks xmlns:a="http://schemas.openxmlformats.org/drawingml/2006/main" noGrp="1"/>
          </p:cNvSpPr>
          <p:nvPr/>
        </p:nvSpPr>
        <p:spPr>
          <a:xfrm xmlns:a="http://schemas.openxmlformats.org/drawingml/2006/main">
            <a:off x="7486650" y="4248150"/>
            <a:ext cx="3733800" cy="9525"/>
          </a:xfrm>
          <a:prstGeom xmlns:a="http://schemas.openxmlformats.org/drawingml/2006/main" prst="line">
            <a:avLst/>
          </a:prstGeom>
          <a:noFill xmlns:a="http://schemas.openxmlformats.org/drawingml/2006/main"/>
          <a:ln xmlns:a="http://schemas.openxmlformats.org/drawingml/2006/main" w="9525">
            <a:solidFill>
              <a:srgbClr val="E2E9E5"/>
            </a:solidFill>
          </a:ln>
        </p:spPr>
      </p:sp>
      <p:sp>
        <p:nvSpPr>
          <p:cNvPr id="13" name="">
            <a:extLst xmlns:a="http://schemas.openxmlformats.org/drawingml/2006/main">
              <a:ext uri="{FF2B5EF4-FFF2-40B4-BE49-F238E27FC236}">
                <a16:creationId xmlns:a16="http://schemas.microsoft.com/office/drawing/2014/main" id="{D1AD37B8-3D65-4076-B732-AC8B8BC19105}"/>
              </a:ext>
            </a:extLst>
          </p:cNvPr>
          <p:cNvSpPr>
            <a:spLocks xmlns:a="http://schemas.openxmlformats.org/drawingml/2006/main" noGrp="1"/>
          </p:cNvSpPr>
          <p:nvPr/>
        </p:nvSpPr>
        <p:spPr>
          <a:xfrm xmlns:a="http://schemas.openxmlformats.org/drawingml/2006/main">
            <a:off x="7486650" y="44958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900" b="1" i="0">
                <a:solidFill>
                  <a:srgbClr val="C78324"/>
                </a:solidFill>
                <a:latin typeface="Arial"/>
                <a:ea typeface="Arial"/>
                <a:cs typeface="Arial"/>
              </a:defRPr>
            </a:pPr>
            <a:r>
              <a:rPr sz="900" b="1" i="0">
                <a:solidFill>
                  <a:srgbClr val="C78324"/>
                </a:solidFill>
                <a:latin typeface="Arial"/>
                <a:ea typeface="Arial"/>
                <a:cs typeface="Arial"/>
              </a:rPr>
              <a:t>TRAVEL ENERGY</a:t>
            </a:r>
          </a:p>
        </p:txBody>
      </p:sp>
      <p:sp>
        <p:nvSpPr>
          <p:cNvPr id="14" name="">
            <a:extLst xmlns:a="http://schemas.openxmlformats.org/drawingml/2006/main">
              <a:ext uri="{FF2B5EF4-FFF2-40B4-BE49-F238E27FC236}">
                <a16:creationId xmlns:a16="http://schemas.microsoft.com/office/drawing/2014/main" id="{AD2BDD69-16AB-4A31-9078-B0FEEEBD2C61}"/>
              </a:ext>
            </a:extLst>
          </p:cNvPr>
          <p:cNvSpPr>
            <a:spLocks xmlns:a="http://schemas.openxmlformats.org/drawingml/2006/main" noGrp="1"/>
          </p:cNvSpPr>
          <p:nvPr/>
        </p:nvSpPr>
        <p:spPr>
          <a:xfrm xmlns:a="http://schemas.openxmlformats.org/drawingml/2006/main">
            <a:off x="7486650" y="4800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4310"/>
          </a:bodyPr>
          <a:lstStyle xmlns:a="http://schemas.openxmlformats.org/drawingml/2006/main"/>
          <a:p xmlns:a="http://schemas.openxmlformats.org/drawingml/2006/main">
            <a:pPr algn="l">
              <a:lnSpc>
                <a:spcPct val="110000"/>
              </a:lnSpc>
              <a:buNone/>
              <a:defRPr sz="1950" b="1" i="0">
                <a:solidFill>
                  <a:srgbClr val="17332F"/>
                </a:solidFill>
                <a:latin typeface="Arial"/>
                <a:ea typeface="Arial"/>
                <a:cs typeface="Arial"/>
              </a:defRPr>
            </a:pPr>
            <a:r>
              <a:rPr sz="1950" b="1" i="0">
                <a:solidFill>
                  <a:srgbClr val="17332F"/>
                </a:solidFill>
                <a:latin typeface="Arial"/>
                <a:ea typeface="Arial"/>
                <a:cs typeface="Arial"/>
              </a:rPr>
              <a:t>Make physical load part of the decision</a:t>
            </a:r>
          </a:p>
        </p:txBody>
      </p:sp>
      <p:sp>
        <p:nvSpPr>
          <p:cNvPr id="15" name="">
            <a:extLst xmlns:a="http://schemas.openxmlformats.org/drawingml/2006/main">
              <a:ext uri="{FF2B5EF4-FFF2-40B4-BE49-F238E27FC236}">
                <a16:creationId xmlns:a16="http://schemas.microsoft.com/office/drawing/2014/main" id="{D1C655E4-33F2-49DF-A611-293790FC0B2A}"/>
              </a:ext>
            </a:extLst>
          </p:cNvPr>
          <p:cNvSpPr>
            <a:spLocks xmlns:a="http://schemas.openxmlformats.org/drawingml/2006/main" noGrp="1"/>
          </p:cNvSpPr>
          <p:nvPr/>
        </p:nvSpPr>
        <p:spPr>
          <a:xfrm xmlns:a="http://schemas.openxmlformats.org/drawingml/2006/main">
            <a:off x="7486650" y="5276850"/>
            <a:ext cx="371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125" b="0" i="0">
                <a:solidFill>
                  <a:srgbClr val="6C7D78"/>
                </a:solidFill>
                <a:latin typeface="Arial"/>
                <a:ea typeface="Arial"/>
                <a:cs typeface="Arial"/>
              </a:defRPr>
            </a:pPr>
            <a:r>
              <a:rPr sz="1125" b="0" i="0">
                <a:solidFill>
                  <a:srgbClr val="6C7D78"/>
                </a:solidFill>
                <a:latin typeface="Arial"/>
                <a:ea typeface="Arial"/>
                <a:cs typeface="Arial"/>
              </a:rPr>
              <a:t>Energy compares walking, activity density, transfers, rest blocks, early starts, late finishes and fatigue risk. These are planning estimates, not medical advice.</a:t>
            </a:r>
          </a:p>
        </p:txBody>
      </p:sp>
      <p:sp>
        <p:nvSpPr>
          <p:cNvPr id="16" name="">
            <a:extLst xmlns:a="http://schemas.openxmlformats.org/drawingml/2006/main">
              <a:ext uri="{FF2B5EF4-FFF2-40B4-BE49-F238E27FC236}">
                <a16:creationId xmlns:a16="http://schemas.microsoft.com/office/drawing/2014/main" id="{0DE3CF03-DBD2-43E5-A6B8-8EC57A9769AD}"/>
              </a:ext>
            </a:extLst>
          </p:cNvPr>
          <p:cNvSpPr>
            <a:spLocks xmlns:a="http://schemas.openxmlformats.org/drawingml/2006/main" noGrp="1"/>
          </p:cNvSpPr>
          <p:nvPr/>
        </p:nvSpPr>
        <p:spPr>
          <a:xfrm xmlns:a="http://schemas.openxmlformats.org/drawingml/2006/main">
            <a:off x="6096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6C7D78"/>
                </a:solidFill>
                <a:latin typeface="Arial"/>
                <a:ea typeface="Arial"/>
                <a:cs typeface="Arial"/>
              </a:defRPr>
            </a:pPr>
            <a:r>
              <a:rPr sz="825" b="0" i="0">
                <a:solidFill>
                  <a:srgbClr val="6C7D78"/>
                </a:solidFill>
                <a:latin typeface="Arial"/>
                <a:ea typeface="Arial"/>
                <a:cs typeface="Arial"/>
              </a:rPr>
              <a:t>TripMind · Protect the outlier, leave room for energy</a:t>
            </a:r>
          </a:p>
        </p:txBody>
      </p:sp>
      <p:sp>
        <p:nvSpPr>
          <p:cNvPr id="17" name="">
            <a:extLst xmlns:a="http://schemas.openxmlformats.org/drawingml/2006/main">
              <a:ext uri="{FF2B5EF4-FFF2-40B4-BE49-F238E27FC236}">
                <a16:creationId xmlns:a16="http://schemas.microsoft.com/office/drawing/2014/main" id="{C5B89108-CFAF-4273-B87F-9A542CE0E6B5}"/>
              </a:ext>
            </a:extLst>
          </p:cNvPr>
          <p:cNvSpPr>
            <a:spLocks xmlns:a="http://schemas.openxmlformats.org/drawingml/2006/main" noGrp="1"/>
          </p:cNvSpPr>
          <p:nvPr/>
        </p:nvSpPr>
        <p:spPr>
          <a:xfrm xmlns:a="http://schemas.openxmlformats.org/drawingml/2006/main">
            <a:off x="10572750" y="6477000"/>
            <a:ext cx="10096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825" b="1" i="0">
                <a:solidFill>
                  <a:srgbClr val="0E7168"/>
                </a:solidFill>
                <a:latin typeface="Arial"/>
                <a:ea typeface="Arial"/>
                <a:cs typeface="Arial"/>
              </a:defRPr>
            </a:pPr>
            <a:r>
              <a:rPr sz="825" b="1" i="0">
                <a:solidFill>
                  <a:srgbClr val="0E7168"/>
                </a:solidFill>
                <a:latin typeface="Arial"/>
                <a:ea typeface="Arial"/>
                <a:cs typeface="Arial"/>
              </a:rPr>
              <a:t>TRIPMIND</a:t>
            </a:r>
          </a:p>
        </p:txBody>
      </p:sp>
    </p:spTree>
    <p:extLst>
      <p:ext uri="{BB962C8B-B14F-4D97-AF65-F5344CB8AC3E}">
        <p14:creationId xmlns:p14="http://schemas.microsoft.com/office/powerpoint/2010/main" val="2079320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2026-09-12T08:28:25.9260000Z</dcterms:created>
  <dcterms:modified xsi:type="dcterms:W3CDTF">2026-09-12T08:28:25.9260000Z</dcterms:modified>
</coreProperties>
</file>